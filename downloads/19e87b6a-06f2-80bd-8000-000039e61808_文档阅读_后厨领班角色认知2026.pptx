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5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9" r:id="rId3"/>
  </p:sldMasterIdLst>
  <p:notesMasterIdLst>
    <p:notesMasterId r:id="rId5"/>
  </p:notesMasterIdLst>
  <p:sldIdLst>
    <p:sldId id="5839" r:id="rId4"/>
    <p:sldId id="5931" r:id="rId6"/>
    <p:sldId id="5869" r:id="rId7"/>
    <p:sldId id="5947" r:id="rId8"/>
    <p:sldId id="5948" r:id="rId9"/>
    <p:sldId id="5946" r:id="rId10"/>
    <p:sldId id="5745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40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 伟敏" initials="朱" lastIdx="1" clrIdx="0"/>
  <p:cmAuthor id="0" name="Microsoft" initials="M" lastIdx="4" clrIdx="0"/>
  <p:cmAuthor id="2" name="黄 朝晔" initials="黄" lastIdx="2" clrIdx="1"/>
  <p:cmAuthor id="3" name="zhangjin jin" initials="zj" lastIdx="1" clrIdx="2"/>
  <p:cmAuthor id="5" name="哥" initials="哥" lastIdx="1" clrIdx="4"/>
  <p:cmAuthor id="4" name="易 浪柯" initials="易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41"/>
    <a:srgbClr val="FF7196"/>
    <a:srgbClr val="194993"/>
    <a:srgbClr val="F38514"/>
    <a:srgbClr val="9BBB59"/>
    <a:srgbClr val="F86317"/>
    <a:srgbClr val="5A1818"/>
    <a:srgbClr val="C00000"/>
    <a:srgbClr val="8064A2"/>
    <a:srgbClr val="FBA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2" autoAdjust="0"/>
    <p:restoredTop sz="90181" autoAdjust="0"/>
  </p:normalViewPr>
  <p:slideViewPr>
    <p:cSldViewPr snapToGrid="0" showGuides="1">
      <p:cViewPr varScale="1">
        <p:scale>
          <a:sx n="75" d="100"/>
          <a:sy n="75" d="100"/>
        </p:scale>
        <p:origin x="955" y="58"/>
      </p:cViewPr>
      <p:guideLst>
        <p:guide orient="horz" pos="2064"/>
        <p:guide pos="40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53.xml"/><Relationship Id="rId17" Type="http://schemas.openxmlformats.org/officeDocument/2006/relationships/customXml" Target="../customXml/item1.xml"/><Relationship Id="rId16" Type="http://schemas.openxmlformats.org/officeDocument/2006/relationships/customXmlProps" Target="../customXml/itemProps52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24926-5633-D043-A348-13C0AAA1763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6096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12192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8288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24384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24926-5633-D043-A348-13C0AAA1763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/>
          <p:cNvSpPr>
            <a:spLocks noGrp="1"/>
          </p:cNvSpPr>
          <p:nvPr>
            <p:ph type="sldNum" sz="quarter" idx="7"/>
          </p:nvPr>
        </p:nvSpPr>
        <p:spPr>
          <a:xfrm>
            <a:off x="11785600" y="6607768"/>
            <a:ext cx="406400" cy="24622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en-US" altLang="zh-CN"/>
          </a:p>
        </p:txBody>
      </p:sp>
      <p:sp>
        <p:nvSpPr>
          <p:cNvPr id="2" name="bk object 16"/>
          <p:cNvSpPr/>
          <p:nvPr/>
        </p:nvSpPr>
        <p:spPr>
          <a:xfrm>
            <a:off x="0" y="0"/>
            <a:ext cx="12192000" cy="670560"/>
          </a:xfrm>
          <a:custGeom>
            <a:avLst/>
            <a:gdLst/>
            <a:ahLst/>
            <a:cxnLst/>
            <a:rect l="l" t="t" r="r" b="b"/>
            <a:pathLst>
              <a:path w="9144000" h="502920">
                <a:moveTo>
                  <a:pt x="0" y="0"/>
                </a:moveTo>
                <a:lnTo>
                  <a:pt x="0" y="502920"/>
                </a:lnTo>
                <a:lnTo>
                  <a:pt x="9143999" y="50292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19499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bk object 19"/>
          <p:cNvSpPr/>
          <p:nvPr/>
        </p:nvSpPr>
        <p:spPr>
          <a:xfrm>
            <a:off x="614472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4" name="bk object 20"/>
          <p:cNvSpPr/>
          <p:nvPr/>
        </p:nvSpPr>
        <p:spPr>
          <a:xfrm>
            <a:off x="498576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bk object 21"/>
          <p:cNvSpPr/>
          <p:nvPr/>
        </p:nvSpPr>
        <p:spPr>
          <a:xfrm>
            <a:off x="150923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6" name="bk object 22"/>
          <p:cNvSpPr/>
          <p:nvPr/>
        </p:nvSpPr>
        <p:spPr>
          <a:xfrm>
            <a:off x="573903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8" name="bk object 23"/>
          <p:cNvSpPr/>
          <p:nvPr/>
        </p:nvSpPr>
        <p:spPr>
          <a:xfrm>
            <a:off x="458017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9" name="bk object 24"/>
          <p:cNvSpPr/>
          <p:nvPr/>
        </p:nvSpPr>
        <p:spPr>
          <a:xfrm>
            <a:off x="226247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0" name="bk object 25"/>
          <p:cNvSpPr/>
          <p:nvPr/>
        </p:nvSpPr>
        <p:spPr>
          <a:xfrm>
            <a:off x="400075" y="266753"/>
            <a:ext cx="0" cy="158327"/>
          </a:xfrm>
          <a:custGeom>
            <a:avLst/>
            <a:gdLst/>
            <a:ahLst/>
            <a:cxnLst/>
            <a:rect l="l" t="t" r="r" b="b"/>
            <a:pathLst>
              <a:path h="118745">
                <a:moveTo>
                  <a:pt x="0" y="0"/>
                </a:moveTo>
                <a:lnTo>
                  <a:pt x="0" y="118366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1" name="bk object 26"/>
          <p:cNvSpPr/>
          <p:nvPr/>
        </p:nvSpPr>
        <p:spPr>
          <a:xfrm>
            <a:off x="284189" y="240262"/>
            <a:ext cx="0" cy="210820"/>
          </a:xfrm>
          <a:custGeom>
            <a:avLst/>
            <a:gdLst/>
            <a:ahLst/>
            <a:cxnLst/>
            <a:rect l="l" t="t" r="r" b="b"/>
            <a:pathLst>
              <a:path h="158115">
                <a:moveTo>
                  <a:pt x="0" y="0"/>
                </a:moveTo>
                <a:lnTo>
                  <a:pt x="0" y="157680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2" name="bk object 27"/>
          <p:cNvSpPr/>
          <p:nvPr/>
        </p:nvSpPr>
        <p:spPr>
          <a:xfrm>
            <a:off x="342132" y="187842"/>
            <a:ext cx="0" cy="315805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732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014472" y="37888"/>
            <a:ext cx="6197600" cy="59478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8630" y="73670"/>
            <a:ext cx="3130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609600"/>
            <a:r>
              <a:rPr lang="en-US" altLang="zh-CN" sz="2800" b="1" spc="5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endParaRPr lang="zh-CN" altLang="en-US" sz="2800" b="1" spc="5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71" y="226026"/>
            <a:ext cx="581672" cy="562041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23367" y="226026"/>
            <a:ext cx="4911091" cy="56204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785600" y="6578600"/>
            <a:ext cx="406400" cy="279401"/>
          </a:xfrm>
          <a:prstGeom prst="rect">
            <a:avLst/>
          </a:prstGeom>
        </p:spPr>
        <p:txBody>
          <a:bodyPr anchor="ctr"/>
          <a:lstStyle>
            <a:lvl1pPr algn="ctr"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128593-9A93-4E6B-B6F7-3D0EA6CFA3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3"/>
          <p:cNvSpPr/>
          <p:nvPr/>
        </p:nvSpPr>
        <p:spPr>
          <a:xfrm>
            <a:off x="1" y="2568447"/>
            <a:ext cx="12192337" cy="1713653"/>
          </a:xfrm>
          <a:custGeom>
            <a:avLst/>
            <a:gdLst/>
            <a:ahLst/>
            <a:cxnLst/>
            <a:rect l="l" t="t" r="r" b="b"/>
            <a:pathLst>
              <a:path w="7740650" h="1285239">
                <a:moveTo>
                  <a:pt x="0" y="1284732"/>
                </a:moveTo>
                <a:lnTo>
                  <a:pt x="7740395" y="1284732"/>
                </a:lnTo>
                <a:lnTo>
                  <a:pt x="7740395" y="0"/>
                </a:lnTo>
                <a:lnTo>
                  <a:pt x="0" y="0"/>
                </a:lnTo>
                <a:lnTo>
                  <a:pt x="0" y="1284732"/>
                </a:lnTo>
                <a:close/>
              </a:path>
            </a:pathLst>
          </a:custGeom>
          <a:solidFill>
            <a:srgbClr val="19499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14"/>
          <p:cNvSpPr/>
          <p:nvPr/>
        </p:nvSpPr>
        <p:spPr>
          <a:xfrm>
            <a:off x="1602723" y="2862919"/>
            <a:ext cx="742527" cy="743373"/>
          </a:xfrm>
          <a:custGeom>
            <a:avLst/>
            <a:gdLst/>
            <a:ahLst/>
            <a:cxnLst/>
            <a:rect l="l" t="t" r="r" b="b"/>
            <a:pathLst>
              <a:path w="556894" h="557530">
                <a:moveTo>
                  <a:pt x="142760" y="0"/>
                </a:moveTo>
                <a:lnTo>
                  <a:pt x="0" y="142748"/>
                </a:lnTo>
                <a:lnTo>
                  <a:pt x="414159" y="557022"/>
                </a:lnTo>
                <a:lnTo>
                  <a:pt x="556907" y="414274"/>
                </a:lnTo>
                <a:lnTo>
                  <a:pt x="142760" y="0"/>
                </a:lnTo>
                <a:close/>
              </a:path>
            </a:pathLst>
          </a:custGeom>
          <a:solidFill>
            <a:srgbClr val="F5841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5"/>
          <p:cNvSpPr/>
          <p:nvPr/>
        </p:nvSpPr>
        <p:spPr>
          <a:xfrm>
            <a:off x="1602723" y="3226139"/>
            <a:ext cx="742527" cy="742527"/>
          </a:xfrm>
          <a:custGeom>
            <a:avLst/>
            <a:gdLst/>
            <a:ahLst/>
            <a:cxnLst/>
            <a:rect l="l" t="t" r="r" b="b"/>
            <a:pathLst>
              <a:path w="556894" h="556894">
                <a:moveTo>
                  <a:pt x="414159" y="0"/>
                </a:moveTo>
                <a:lnTo>
                  <a:pt x="0" y="414273"/>
                </a:lnTo>
                <a:lnTo>
                  <a:pt x="142760" y="556894"/>
                </a:lnTo>
                <a:lnTo>
                  <a:pt x="556907" y="142747"/>
                </a:lnTo>
                <a:lnTo>
                  <a:pt x="414159" y="0"/>
                </a:lnTo>
                <a:close/>
              </a:path>
            </a:pathLst>
          </a:custGeom>
          <a:solidFill>
            <a:srgbClr val="FFAC84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>
              <a:solidFill>
                <a:srgbClr val="F38514"/>
              </a:solidFill>
            </a:endParaRPr>
          </a:p>
        </p:txBody>
      </p:sp>
      <p:sp>
        <p:nvSpPr>
          <p:cNvPr id="11" name="object 16"/>
          <p:cNvSpPr/>
          <p:nvPr/>
        </p:nvSpPr>
        <p:spPr>
          <a:xfrm>
            <a:off x="1" y="2568447"/>
            <a:ext cx="1871980" cy="1713653"/>
          </a:xfrm>
          <a:custGeom>
            <a:avLst/>
            <a:gdLst/>
            <a:ahLst/>
            <a:cxnLst/>
            <a:rect l="l" t="t" r="r" b="b"/>
            <a:pathLst>
              <a:path w="1403985" h="1285239">
                <a:moveTo>
                  <a:pt x="0" y="1284732"/>
                </a:moveTo>
                <a:lnTo>
                  <a:pt x="1403604" y="1284732"/>
                </a:lnTo>
                <a:lnTo>
                  <a:pt x="1403604" y="0"/>
                </a:lnTo>
                <a:lnTo>
                  <a:pt x="0" y="0"/>
                </a:lnTo>
                <a:lnTo>
                  <a:pt x="0" y="1284732"/>
                </a:lnTo>
                <a:close/>
              </a:path>
            </a:pathLst>
          </a:custGeom>
          <a:solidFill>
            <a:srgbClr val="19499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7"/>
          <p:cNvSpPr txBox="1"/>
          <p:nvPr/>
        </p:nvSpPr>
        <p:spPr>
          <a:xfrm>
            <a:off x="621936" y="3733800"/>
            <a:ext cx="64346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sz="2000" b="1" spc="-7">
                <a:solidFill>
                  <a:srgbClr val="F38514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STEP</a:t>
            </a:r>
            <a:endParaRPr sz="2000">
              <a:solidFill>
                <a:srgbClr val="F38514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object 18"/>
          <p:cNvSpPr/>
          <p:nvPr/>
        </p:nvSpPr>
        <p:spPr>
          <a:xfrm>
            <a:off x="1871471" y="2590801"/>
            <a:ext cx="241807" cy="1690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2595001" y="2862919"/>
            <a:ext cx="8940800" cy="1104900"/>
          </a:xfrm>
          <a:prstGeom prst="rect">
            <a:avLst/>
          </a:prstGeom>
        </p:spPr>
        <p:txBody>
          <a:bodyPr anchor="ctr"/>
          <a:lstStyle>
            <a:lvl1pPr>
              <a:defRPr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1" hasCustomPrompt="1"/>
          </p:nvPr>
        </p:nvSpPr>
        <p:spPr>
          <a:xfrm>
            <a:off x="406824" y="2929184"/>
            <a:ext cx="1058333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ctr">
              <a:defRPr lang="zh-CN" altLang="en-US" sz="4400" b="1" kern="1200" spc="-7" smtClean="0">
                <a:solidFill>
                  <a:srgbClr val="F38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17145" lvl="0" algn="ctr" defTabSz="1219200" rtl="0" eaLnBrk="1" latinLnBrk="0" hangingPunct="1">
              <a:lnSpc>
                <a:spcPct val="100000"/>
              </a:lnSpc>
              <a:spcBef>
                <a:spcPts val="100"/>
              </a:spcBef>
            </a:pPr>
            <a:r>
              <a:rPr lang="zh-CN" altLang="en-US"/>
              <a:t>一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rgbClr val="194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 userDrawn="1"/>
        </p:nvSpPr>
        <p:spPr>
          <a:xfrm>
            <a:off x="8519031" y="6434371"/>
            <a:ext cx="1146468" cy="2358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0" algn="r" defTabSz="1219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35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门店运营管理手册</a:t>
            </a:r>
            <a:endParaRPr lang="en-US" altLang="zh-CN" sz="935" b="0" i="0" u="none" strike="noStrike" kern="120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椭圆 53"/>
          <p:cNvSpPr/>
          <p:nvPr userDrawn="1"/>
        </p:nvSpPr>
        <p:spPr>
          <a:xfrm>
            <a:off x="9767129" y="6425213"/>
            <a:ext cx="384137" cy="39251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1" tIns="60951" rIns="121901" bIns="60951" rtlCol="0" anchor="ctr"/>
          <a:lstStyle/>
          <a:p>
            <a:pPr algn="ctr"/>
            <a:endParaRPr lang="zh-CN" altLang="en-US" sz="3200" dirty="0"/>
          </a:p>
        </p:txBody>
      </p:sp>
      <p:sp>
        <p:nvSpPr>
          <p:cNvPr id="55" name="灯片编号占位符 5"/>
          <p:cNvSpPr txBox="1">
            <a:spLocks noChangeArrowheads="1"/>
          </p:cNvSpPr>
          <p:nvPr userDrawn="1"/>
        </p:nvSpPr>
        <p:spPr>
          <a:xfrm>
            <a:off x="9648474" y="6476819"/>
            <a:ext cx="619021" cy="44127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457200" rtl="0" eaLnBrk="1" latinLnBrk="0" hangingPunct="1">
              <a:defRPr sz="1100" b="0" kern="1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F634C5BF-DAC4-4F87-9DFA-648C47EE1DE1}" type="slidenum">
              <a:rPr lang="zh-CN" altLang="en-US" sz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8763643" y="6621017"/>
            <a:ext cx="9188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0" algn="r" defTabSz="1219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好体验 </a:t>
            </a:r>
            <a:r>
              <a:rPr lang="en-US" altLang="zh-CN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高效率 </a:t>
            </a:r>
            <a:endParaRPr lang="en-US" altLang="zh-CN" sz="800" b="0" i="0" u="none" strike="noStrike" kern="120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4978" y="6460283"/>
            <a:ext cx="792628" cy="3214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60" y="4184"/>
            <a:ext cx="12192000" cy="6853816"/>
          </a:xfrm>
          <a:prstGeom prst="rect">
            <a:avLst/>
          </a:prstGeom>
        </p:spPr>
      </p:pic>
      <p:sp>
        <p:nvSpPr>
          <p:cNvPr id="11" name="灯片编号占位符 3"/>
          <p:cNvSpPr txBox="1"/>
          <p:nvPr/>
        </p:nvSpPr>
        <p:spPr>
          <a:xfrm>
            <a:off x="11502756" y="5749964"/>
            <a:ext cx="632059" cy="3168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100" kern="1200">
                <a:solidFill>
                  <a:srgbClr val="574E4C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08000" y="360000"/>
            <a:ext cx="5400000" cy="648000"/>
          </a:xfrm>
          <a:prstGeom prst="rect">
            <a:avLst/>
          </a:prstGeom>
        </p:spPr>
        <p:txBody>
          <a:bodyPr tIns="36000" bIns="36000" anchor="ctr"/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52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p>
            <a:endParaRPr lang="zh-CN"/>
          </a:p>
        </p:txBody>
      </p:sp>
      <p:sp>
        <p:nvSpPr>
          <p:cNvPr id="53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C705DF-EB6A-4429-A9CF-8086C29D54D9}" type="slidenum">
              <a:rPr lang="zh-CN"/>
            </a:fld>
            <a:endParaRPr lang="zh-CN"/>
          </a:p>
        </p:txBody>
      </p:sp>
      <p:pic>
        <p:nvPicPr>
          <p:cNvPr id="10" name="图片 9" descr="13号晚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18DFAB-279D-45FB-8988-01B47F34F95A}" type="slidenum">
              <a:rPr lang="zh-CN"/>
            </a:fld>
            <a:endParaRPr lang="zh-CN"/>
          </a:p>
        </p:txBody>
      </p:sp>
      <p:pic>
        <p:nvPicPr>
          <p:cNvPr id="4" name="图片 3" descr="资源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1" name="图片 0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266700" y="-1172845"/>
            <a:ext cx="1673860" cy="1670050"/>
          </a:xfrm>
          <a:prstGeom prst="rect">
            <a:avLst/>
          </a:prstGeom>
        </p:spPr>
      </p:pic>
      <p:pic>
        <p:nvPicPr>
          <p:cNvPr id="2" name="图片 1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502265" y="5179695"/>
            <a:ext cx="2697480" cy="26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5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2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  <p:pic>
        <p:nvPicPr>
          <p:cNvPr id="4" name="图片 3" descr="资源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10" name="图片 9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266700" y="-1172845"/>
            <a:ext cx="1673860" cy="1670050"/>
          </a:xfrm>
          <a:prstGeom prst="rect">
            <a:avLst/>
          </a:prstGeom>
        </p:spPr>
      </p:pic>
      <p:pic>
        <p:nvPicPr>
          <p:cNvPr id="7" name="图片 6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502265" y="5179695"/>
            <a:ext cx="2697480" cy="26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1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2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3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4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35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8259AF-2A25-452C-AA5F-7B080E8C5A7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8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9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0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41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2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43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4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A90A56-B7DA-460C-8F46-95BFAF0AF95F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7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8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9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2178EC5-58A4-4F44-B83C-34BE3E218AB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52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53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6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7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8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9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0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120986-D9F8-450A-8E8A-7B53A97B66E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7CCC7F-E1A2-469B-A337-764C3DF0731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70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71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72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73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D47AF7-089F-4725-8B45-DEA8A59F6C62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AACFD0-6D64-47CD-A483-D6FD45307366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/>
            </a:fld>
            <a:endParaRPr lang="en-US"/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/>
          <p:cNvSpPr>
            <a:spLocks noGrp="1"/>
          </p:cNvSpPr>
          <p:nvPr>
            <p:ph type="sldNum" sz="quarter" idx="4"/>
          </p:nvPr>
        </p:nvSpPr>
        <p:spPr>
          <a:xfrm>
            <a:off x="11785600" y="6611779"/>
            <a:ext cx="406400" cy="24622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609600" eaLnBrk="1" hangingPunct="1">
        <a:defRPr>
          <a:latin typeface="+mn-lt"/>
          <a:ea typeface="+mn-ea"/>
          <a:cs typeface="+mn-cs"/>
        </a:defRPr>
      </a:lvl2pPr>
      <a:lvl3pPr marL="1219200" eaLnBrk="1" hangingPunct="1">
        <a:defRPr>
          <a:latin typeface="+mn-lt"/>
          <a:ea typeface="+mn-ea"/>
          <a:cs typeface="+mn-cs"/>
        </a:defRPr>
      </a:lvl3pPr>
      <a:lvl4pPr marL="1828800" eaLnBrk="1" hangingPunct="1">
        <a:defRPr>
          <a:latin typeface="+mn-lt"/>
          <a:ea typeface="+mn-ea"/>
          <a:cs typeface="+mn-cs"/>
        </a:defRPr>
      </a:lvl4pPr>
      <a:lvl5pPr marL="2438400" eaLnBrk="1" hangingPunct="1">
        <a:defRPr>
          <a:latin typeface="+mn-lt"/>
          <a:ea typeface="+mn-ea"/>
          <a:cs typeface="+mn-cs"/>
        </a:defRPr>
      </a:lvl5pPr>
      <a:lvl6pPr marL="3048000" eaLnBrk="1" hangingPunct="1">
        <a:defRPr>
          <a:latin typeface="+mn-lt"/>
          <a:ea typeface="+mn-ea"/>
          <a:cs typeface="+mn-cs"/>
        </a:defRPr>
      </a:lvl6pPr>
      <a:lvl7pPr marL="3657600" eaLnBrk="1" hangingPunct="1">
        <a:defRPr>
          <a:latin typeface="+mn-lt"/>
          <a:ea typeface="+mn-ea"/>
          <a:cs typeface="+mn-cs"/>
        </a:defRPr>
      </a:lvl7pPr>
      <a:lvl8pPr marL="4267200" eaLnBrk="1" hangingPunct="1">
        <a:defRPr>
          <a:latin typeface="+mn-lt"/>
          <a:ea typeface="+mn-ea"/>
          <a:cs typeface="+mn-cs"/>
        </a:defRPr>
      </a:lvl8pPr>
      <a:lvl9pPr marL="48768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609600" eaLnBrk="1" hangingPunct="1">
        <a:defRPr>
          <a:latin typeface="+mn-lt"/>
          <a:ea typeface="+mn-ea"/>
          <a:cs typeface="+mn-cs"/>
        </a:defRPr>
      </a:lvl2pPr>
      <a:lvl3pPr marL="1219200" eaLnBrk="1" hangingPunct="1">
        <a:defRPr>
          <a:latin typeface="+mn-lt"/>
          <a:ea typeface="+mn-ea"/>
          <a:cs typeface="+mn-cs"/>
        </a:defRPr>
      </a:lvl3pPr>
      <a:lvl4pPr marL="1828800" eaLnBrk="1" hangingPunct="1">
        <a:defRPr>
          <a:latin typeface="+mn-lt"/>
          <a:ea typeface="+mn-ea"/>
          <a:cs typeface="+mn-cs"/>
        </a:defRPr>
      </a:lvl4pPr>
      <a:lvl5pPr marL="2438400" eaLnBrk="1" hangingPunct="1">
        <a:defRPr>
          <a:latin typeface="+mn-lt"/>
          <a:ea typeface="+mn-ea"/>
          <a:cs typeface="+mn-cs"/>
        </a:defRPr>
      </a:lvl5pPr>
      <a:lvl6pPr marL="3048000" eaLnBrk="1" hangingPunct="1">
        <a:defRPr>
          <a:latin typeface="+mn-lt"/>
          <a:ea typeface="+mn-ea"/>
          <a:cs typeface="+mn-cs"/>
        </a:defRPr>
      </a:lvl6pPr>
      <a:lvl7pPr marL="3657600" eaLnBrk="1" hangingPunct="1">
        <a:defRPr>
          <a:latin typeface="+mn-lt"/>
          <a:ea typeface="+mn-ea"/>
          <a:cs typeface="+mn-cs"/>
        </a:defRPr>
      </a:lvl7pPr>
      <a:lvl8pPr marL="4267200" eaLnBrk="1" hangingPunct="1">
        <a:defRPr>
          <a:latin typeface="+mn-lt"/>
          <a:ea typeface="+mn-ea"/>
          <a:cs typeface="+mn-cs"/>
        </a:defRPr>
      </a:lvl8pPr>
      <a:lvl9pPr marL="48768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1" Type="http://schemas.openxmlformats.org/officeDocument/2006/relationships/notesSlide" Target="../notesSlides/notesSlide4.xml"/><Relationship Id="rId50" Type="http://schemas.openxmlformats.org/officeDocument/2006/relationships/slideLayout" Target="../slideLayouts/slideLayout17.xml"/><Relationship Id="rId5" Type="http://schemas.openxmlformats.org/officeDocument/2006/relationships/tags" Target="../tags/tag5.xml"/><Relationship Id="rId49" Type="http://schemas.openxmlformats.org/officeDocument/2006/relationships/image" Target="../media/image23.svg"/><Relationship Id="rId48" Type="http://schemas.openxmlformats.org/officeDocument/2006/relationships/image" Target="../media/image22.png"/><Relationship Id="rId47" Type="http://schemas.openxmlformats.org/officeDocument/2006/relationships/tags" Target="../tags/tag37.xml"/><Relationship Id="rId46" Type="http://schemas.openxmlformats.org/officeDocument/2006/relationships/image" Target="../media/image21.svg"/><Relationship Id="rId45" Type="http://schemas.openxmlformats.org/officeDocument/2006/relationships/image" Target="../media/image20.png"/><Relationship Id="rId44" Type="http://schemas.openxmlformats.org/officeDocument/2006/relationships/tags" Target="../tags/tag36.xml"/><Relationship Id="rId43" Type="http://schemas.openxmlformats.org/officeDocument/2006/relationships/image" Target="../media/image19.svg"/><Relationship Id="rId42" Type="http://schemas.openxmlformats.org/officeDocument/2006/relationships/image" Target="../media/image18.png"/><Relationship Id="rId41" Type="http://schemas.openxmlformats.org/officeDocument/2006/relationships/tags" Target="../tags/tag35.xml"/><Relationship Id="rId40" Type="http://schemas.openxmlformats.org/officeDocument/2006/relationships/image" Target="../media/image17.svg"/><Relationship Id="rId4" Type="http://schemas.openxmlformats.org/officeDocument/2006/relationships/tags" Target="../tags/tag4.xml"/><Relationship Id="rId39" Type="http://schemas.openxmlformats.org/officeDocument/2006/relationships/image" Target="../media/image16.png"/><Relationship Id="rId38" Type="http://schemas.openxmlformats.org/officeDocument/2006/relationships/tags" Target="../tags/tag34.xml"/><Relationship Id="rId37" Type="http://schemas.openxmlformats.org/officeDocument/2006/relationships/tags" Target="../tags/tag33.xml"/><Relationship Id="rId36" Type="http://schemas.openxmlformats.org/officeDocument/2006/relationships/image" Target="../media/image15.svg"/><Relationship Id="rId35" Type="http://schemas.openxmlformats.org/officeDocument/2006/relationships/image" Target="../media/image14.png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image" Target="../media/image13.svg"/><Relationship Id="rId31" Type="http://schemas.openxmlformats.org/officeDocument/2006/relationships/image" Target="../media/image12.png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93700" y="1717626"/>
            <a:ext cx="101917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后厨领班角色认知</a:t>
            </a:r>
            <a:endParaRPr lang="zh-CN" altLang="en-US" sz="66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393700" y="3034030"/>
            <a:ext cx="10828655" cy="8394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36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从执行者到管理者</a:t>
            </a:r>
            <a:endParaRPr lang="zh-CN" altLang="en-US" sz="36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2"/>
          <p:cNvSpPr txBox="1"/>
          <p:nvPr/>
        </p:nvSpPr>
        <p:spPr>
          <a:xfrm>
            <a:off x="4051935" y="1971040"/>
            <a:ext cx="6888480" cy="2604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spcBef>
                <a:spcPts val="0"/>
              </a:spcBef>
              <a:spcAft>
                <a:spcPts val="1200"/>
              </a:spcAft>
            </a:pPr>
            <a:r>
              <a:rPr 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01.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后厨领班的</a:t>
            </a:r>
            <a:r>
              <a:rPr lang="en-US" alt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个职责</a:t>
            </a:r>
            <a:endParaRPr lang="zh-CN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r>
              <a:rPr 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02.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后厨领班的</a:t>
            </a:r>
            <a:r>
              <a:rPr lang="en-US" alt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大指标</a:t>
            </a: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r>
              <a:rPr 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03.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后厨领班的</a:t>
            </a:r>
            <a:r>
              <a:rPr lang="en-US" alt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大能力</a:t>
            </a: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烘焙员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VS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后厨领班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90955" y="2924810"/>
            <a:ext cx="97008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accent4"/>
                </a:solidFill>
                <a:latin typeface="微软雅黑" panose="020B0503020204020204" pitchFamily="34" charset="-122"/>
              </a:rPr>
              <a:t>后厨领班的职责，和烘焙员对比有什么不同？</a:t>
            </a:r>
            <a:endParaRPr lang="zh-CN" altLang="en-US" sz="3600" b="1">
              <a:solidFill>
                <a:schemeClr val="accent4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79425" y="1416685"/>
            <a:ext cx="3980180" cy="914400"/>
            <a:chOff x="6991" y="1998"/>
            <a:chExt cx="6268" cy="1440"/>
          </a:xfrm>
        </p:grpSpPr>
        <p:sp>
          <p:nvSpPr>
            <p:cNvPr id="8" name="文本框 7"/>
            <p:cNvSpPr txBox="1"/>
            <p:nvPr/>
          </p:nvSpPr>
          <p:spPr>
            <a:xfrm>
              <a:off x="8352" y="2338"/>
              <a:ext cx="490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/>
                <a:t>思考</a:t>
              </a:r>
              <a:r>
                <a:rPr lang="en-US" altLang="zh-CN" sz="3200" b="1"/>
                <a:t>&amp;</a:t>
              </a:r>
              <a:r>
                <a:rPr lang="zh-CN" altLang="en-US" sz="3200" b="1"/>
                <a:t>讨论</a:t>
              </a:r>
              <a:endParaRPr lang="zh-CN" altLang="en-US" sz="3200" b="1"/>
            </a:p>
          </p:txBody>
        </p:sp>
        <p:pic>
          <p:nvPicPr>
            <p:cNvPr id="10" name="图片 9" descr="机器学习主动思考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91" y="1998"/>
              <a:ext cx="1440" cy="14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后厨领班的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个职责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1"/>
            </p:custDataLst>
          </p:nvPr>
        </p:nvSpPr>
        <p:spPr>
          <a:xfrm>
            <a:off x="6571930" y="5394662"/>
            <a:ext cx="1966020" cy="426505"/>
          </a:xfrm>
          <a:custGeom>
            <a:avLst/>
            <a:gdLst>
              <a:gd name="connsiteX0" fmla="*/ 0 w 1949713"/>
              <a:gd name="connsiteY0" fmla="*/ 423193 h 445864"/>
              <a:gd name="connsiteX1" fmla="*/ 0 w 1949713"/>
              <a:gd name="connsiteY1" fmla="*/ 423193 h 445864"/>
              <a:gd name="connsiteX2" fmla="*/ 733032 w 1949713"/>
              <a:gd name="connsiteY2" fmla="*/ 430750 h 445864"/>
              <a:gd name="connsiteX3" fmla="*/ 1156225 w 1949713"/>
              <a:gd name="connsiteY3" fmla="*/ 430750 h 445864"/>
              <a:gd name="connsiteX4" fmla="*/ 1292251 w 1949713"/>
              <a:gd name="connsiteY4" fmla="*/ 423193 h 445864"/>
              <a:gd name="connsiteX5" fmla="*/ 1330036 w 1949713"/>
              <a:gd name="connsiteY5" fmla="*/ 415636 h 445864"/>
              <a:gd name="connsiteX6" fmla="*/ 1367822 w 1949713"/>
              <a:gd name="connsiteY6" fmla="*/ 423193 h 445864"/>
              <a:gd name="connsiteX7" fmla="*/ 1488734 w 1949713"/>
              <a:gd name="connsiteY7" fmla="*/ 445864 h 445864"/>
              <a:gd name="connsiteX8" fmla="*/ 1775901 w 1949713"/>
              <a:gd name="connsiteY8" fmla="*/ 0 h 445864"/>
              <a:gd name="connsiteX9" fmla="*/ 1949713 w 1949713"/>
              <a:gd name="connsiteY9" fmla="*/ 0 h 445864"/>
              <a:gd name="connsiteX0-1" fmla="*/ 0 w 1949713"/>
              <a:gd name="connsiteY0-2" fmla="*/ 423193 h 470957"/>
              <a:gd name="connsiteX1-3" fmla="*/ 0 w 1949713"/>
              <a:gd name="connsiteY1-4" fmla="*/ 423193 h 470957"/>
              <a:gd name="connsiteX2-5" fmla="*/ 733032 w 1949713"/>
              <a:gd name="connsiteY2-6" fmla="*/ 430750 h 470957"/>
              <a:gd name="connsiteX3-7" fmla="*/ 1156225 w 1949713"/>
              <a:gd name="connsiteY3-8" fmla="*/ 430750 h 470957"/>
              <a:gd name="connsiteX4-9" fmla="*/ 1292251 w 1949713"/>
              <a:gd name="connsiteY4-10" fmla="*/ 423193 h 470957"/>
              <a:gd name="connsiteX5-11" fmla="*/ 1330036 w 1949713"/>
              <a:gd name="connsiteY5-12" fmla="*/ 415636 h 470957"/>
              <a:gd name="connsiteX6-13" fmla="*/ 1488734 w 1949713"/>
              <a:gd name="connsiteY6-14" fmla="*/ 445864 h 470957"/>
              <a:gd name="connsiteX7-15" fmla="*/ 1775901 w 1949713"/>
              <a:gd name="connsiteY7-16" fmla="*/ 0 h 470957"/>
              <a:gd name="connsiteX8-17" fmla="*/ 1949713 w 1949713"/>
              <a:gd name="connsiteY8-18" fmla="*/ 0 h 470957"/>
              <a:gd name="connsiteX0-19" fmla="*/ 0 w 1949713"/>
              <a:gd name="connsiteY0-20" fmla="*/ 423193 h 472667"/>
              <a:gd name="connsiteX1-21" fmla="*/ 0 w 1949713"/>
              <a:gd name="connsiteY1-22" fmla="*/ 423193 h 472667"/>
              <a:gd name="connsiteX2-23" fmla="*/ 733032 w 1949713"/>
              <a:gd name="connsiteY2-24" fmla="*/ 430750 h 472667"/>
              <a:gd name="connsiteX3-25" fmla="*/ 1156225 w 1949713"/>
              <a:gd name="connsiteY3-26" fmla="*/ 430750 h 472667"/>
              <a:gd name="connsiteX4-27" fmla="*/ 1292251 w 1949713"/>
              <a:gd name="connsiteY4-28" fmla="*/ 423193 h 472667"/>
              <a:gd name="connsiteX5-29" fmla="*/ 1488734 w 1949713"/>
              <a:gd name="connsiteY5-30" fmla="*/ 445864 h 472667"/>
              <a:gd name="connsiteX6-31" fmla="*/ 1775901 w 1949713"/>
              <a:gd name="connsiteY6-32" fmla="*/ 0 h 472667"/>
              <a:gd name="connsiteX7-33" fmla="*/ 1949713 w 1949713"/>
              <a:gd name="connsiteY7-34" fmla="*/ 0 h 472667"/>
              <a:gd name="connsiteX0-35" fmla="*/ 0 w 1949713"/>
              <a:gd name="connsiteY0-36" fmla="*/ 423193 h 474737"/>
              <a:gd name="connsiteX1-37" fmla="*/ 0 w 1949713"/>
              <a:gd name="connsiteY1-38" fmla="*/ 423193 h 474737"/>
              <a:gd name="connsiteX2-39" fmla="*/ 733032 w 1949713"/>
              <a:gd name="connsiteY2-40" fmla="*/ 430750 h 474737"/>
              <a:gd name="connsiteX3-41" fmla="*/ 1156225 w 1949713"/>
              <a:gd name="connsiteY3-42" fmla="*/ 430750 h 474737"/>
              <a:gd name="connsiteX4-43" fmla="*/ 1488734 w 1949713"/>
              <a:gd name="connsiteY4-44" fmla="*/ 445864 h 474737"/>
              <a:gd name="connsiteX5-45" fmla="*/ 1775901 w 1949713"/>
              <a:gd name="connsiteY5-46" fmla="*/ 0 h 474737"/>
              <a:gd name="connsiteX6-47" fmla="*/ 1949713 w 1949713"/>
              <a:gd name="connsiteY6-48" fmla="*/ 0 h 474737"/>
              <a:gd name="connsiteX0-49" fmla="*/ 0 w 1949713"/>
              <a:gd name="connsiteY0-50" fmla="*/ 423193 h 474973"/>
              <a:gd name="connsiteX1-51" fmla="*/ 0 w 1949713"/>
              <a:gd name="connsiteY1-52" fmla="*/ 423193 h 474973"/>
              <a:gd name="connsiteX2-53" fmla="*/ 733032 w 1949713"/>
              <a:gd name="connsiteY2-54" fmla="*/ 430750 h 474973"/>
              <a:gd name="connsiteX3-55" fmla="*/ 1488734 w 1949713"/>
              <a:gd name="connsiteY3-56" fmla="*/ 445864 h 474973"/>
              <a:gd name="connsiteX4-57" fmla="*/ 1775901 w 1949713"/>
              <a:gd name="connsiteY4-58" fmla="*/ 0 h 474973"/>
              <a:gd name="connsiteX5-59" fmla="*/ 1949713 w 1949713"/>
              <a:gd name="connsiteY5-60" fmla="*/ 0 h 474973"/>
              <a:gd name="connsiteX0-61" fmla="*/ 0 w 1949713"/>
              <a:gd name="connsiteY0-62" fmla="*/ 423193 h 445864"/>
              <a:gd name="connsiteX1-63" fmla="*/ 0 w 1949713"/>
              <a:gd name="connsiteY1-64" fmla="*/ 423193 h 445864"/>
              <a:gd name="connsiteX2-65" fmla="*/ 1488734 w 1949713"/>
              <a:gd name="connsiteY2-66" fmla="*/ 445864 h 445864"/>
              <a:gd name="connsiteX3-67" fmla="*/ 1775901 w 1949713"/>
              <a:gd name="connsiteY3-68" fmla="*/ 0 h 445864"/>
              <a:gd name="connsiteX4-69" fmla="*/ 1949713 w 1949713"/>
              <a:gd name="connsiteY4-70" fmla="*/ 0 h 445864"/>
              <a:gd name="connsiteX0-71" fmla="*/ 0 w 1949713"/>
              <a:gd name="connsiteY0-72" fmla="*/ 423193 h 423193"/>
              <a:gd name="connsiteX1-73" fmla="*/ 0 w 1949713"/>
              <a:gd name="connsiteY1-74" fmla="*/ 423193 h 423193"/>
              <a:gd name="connsiteX2-75" fmla="*/ 1511405 w 1949713"/>
              <a:gd name="connsiteY2-76" fmla="*/ 408079 h 423193"/>
              <a:gd name="connsiteX3-77" fmla="*/ 1775901 w 1949713"/>
              <a:gd name="connsiteY3-78" fmla="*/ 0 h 423193"/>
              <a:gd name="connsiteX4-79" fmla="*/ 1949713 w 1949713"/>
              <a:gd name="connsiteY4-80" fmla="*/ 0 h 4231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49713" h="423193">
                <a:moveTo>
                  <a:pt x="0" y="423193"/>
                </a:moveTo>
                <a:lnTo>
                  <a:pt x="0" y="423193"/>
                </a:lnTo>
                <a:lnTo>
                  <a:pt x="1511405" y="408079"/>
                </a:lnTo>
                <a:lnTo>
                  <a:pt x="1775901" y="0"/>
                </a:lnTo>
                <a:lnTo>
                  <a:pt x="1949713" y="0"/>
                </a:lnTo>
              </a:path>
            </a:pathLst>
          </a:custGeom>
          <a:noFill/>
          <a:ln w="9525" cap="flat" cmpd="sng" algn="ctr">
            <a:solidFill>
              <a:srgbClr val="FF7429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2"/>
            </p:custDataLst>
          </p:nvPr>
        </p:nvSpPr>
        <p:spPr>
          <a:xfrm>
            <a:off x="4158913" y="3632929"/>
            <a:ext cx="600052" cy="386160"/>
          </a:xfrm>
          <a:custGeom>
            <a:avLst/>
            <a:gdLst>
              <a:gd name="connsiteX0" fmla="*/ 0 w 937"/>
              <a:gd name="connsiteY0" fmla="*/ 0 h 333"/>
              <a:gd name="connsiteX1" fmla="*/ 487 w 937"/>
              <a:gd name="connsiteY1" fmla="*/ 3 h 333"/>
              <a:gd name="connsiteX2" fmla="*/ 937 w 937"/>
              <a:gd name="connsiteY2" fmla="*/ 333 h 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7" h="333">
                <a:moveTo>
                  <a:pt x="0" y="0"/>
                </a:moveTo>
                <a:cubicBezTo>
                  <a:pt x="488" y="3"/>
                  <a:pt x="297" y="-2"/>
                  <a:pt x="487" y="3"/>
                </a:cubicBezTo>
                <a:lnTo>
                  <a:pt x="937" y="333"/>
                </a:lnTo>
              </a:path>
            </a:pathLst>
          </a:custGeom>
          <a:noFill/>
          <a:ln w="9525" cap="flat" cmpd="sng" algn="ctr">
            <a:solidFill>
              <a:srgbClr val="8830FE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4" name="任意多边形 43"/>
          <p:cNvSpPr/>
          <p:nvPr>
            <p:custDataLst>
              <p:tags r:id="rId3"/>
            </p:custDataLst>
          </p:nvPr>
        </p:nvSpPr>
        <p:spPr>
          <a:xfrm flipH="1">
            <a:off x="8016667" y="3632929"/>
            <a:ext cx="531530" cy="854290"/>
          </a:xfrm>
          <a:custGeom>
            <a:avLst/>
            <a:gdLst>
              <a:gd name="connsiteX0" fmla="*/ 0 w 937"/>
              <a:gd name="connsiteY0" fmla="*/ 0 h 333"/>
              <a:gd name="connsiteX1" fmla="*/ 487 w 937"/>
              <a:gd name="connsiteY1" fmla="*/ 3 h 333"/>
              <a:gd name="connsiteX2" fmla="*/ 937 w 937"/>
              <a:gd name="connsiteY2" fmla="*/ 333 h 333"/>
              <a:gd name="connsiteX0-1" fmla="*/ 0 w 10000"/>
              <a:gd name="connsiteY0-2" fmla="*/ 54 h 10054"/>
              <a:gd name="connsiteX1-3" fmla="*/ 3800 w 10000"/>
              <a:gd name="connsiteY1-4" fmla="*/ 50 h 10054"/>
              <a:gd name="connsiteX2-5" fmla="*/ 10000 w 10000"/>
              <a:gd name="connsiteY2-6" fmla="*/ 10054 h 10054"/>
              <a:gd name="connsiteX0-7" fmla="*/ 0 w 10000"/>
              <a:gd name="connsiteY0-8" fmla="*/ 54 h 10054"/>
              <a:gd name="connsiteX1-9" fmla="*/ 3419 w 10000"/>
              <a:gd name="connsiteY1-10" fmla="*/ 50 h 10054"/>
              <a:gd name="connsiteX2-11" fmla="*/ 10000 w 10000"/>
              <a:gd name="connsiteY2-12" fmla="*/ 10054 h 10054"/>
              <a:gd name="connsiteX0-13" fmla="*/ 0 w 10000"/>
              <a:gd name="connsiteY0-14" fmla="*/ 54 h 10054"/>
              <a:gd name="connsiteX1-15" fmla="*/ 3419 w 10000"/>
              <a:gd name="connsiteY1-16" fmla="*/ 50 h 10054"/>
              <a:gd name="connsiteX2-17" fmla="*/ 10000 w 10000"/>
              <a:gd name="connsiteY2-18" fmla="*/ 10054 h 10054"/>
              <a:gd name="connsiteX0-19" fmla="*/ 0 w 8603"/>
              <a:gd name="connsiteY0-20" fmla="*/ 54 h 10620"/>
              <a:gd name="connsiteX1-21" fmla="*/ 3419 w 8603"/>
              <a:gd name="connsiteY1-22" fmla="*/ 50 h 10620"/>
              <a:gd name="connsiteX2-23" fmla="*/ 8603 w 8603"/>
              <a:gd name="connsiteY2-24" fmla="*/ 10620 h 10620"/>
              <a:gd name="connsiteX0-25" fmla="*/ 0 w 10000"/>
              <a:gd name="connsiteY0-26" fmla="*/ 51 h 10000"/>
              <a:gd name="connsiteX1-27" fmla="*/ 3974 w 10000"/>
              <a:gd name="connsiteY1-28" fmla="*/ 47 h 10000"/>
              <a:gd name="connsiteX2-29" fmla="*/ 10000 w 10000"/>
              <a:gd name="connsiteY2-30" fmla="*/ 10000 h 10000"/>
              <a:gd name="connsiteX0-31" fmla="*/ 0 w 10295"/>
              <a:gd name="connsiteY0-32" fmla="*/ 0 h 10215"/>
              <a:gd name="connsiteX1-33" fmla="*/ 4269 w 10295"/>
              <a:gd name="connsiteY1-34" fmla="*/ 262 h 10215"/>
              <a:gd name="connsiteX2-35" fmla="*/ 10295 w 10295"/>
              <a:gd name="connsiteY2-36" fmla="*/ 10215 h 10215"/>
              <a:gd name="connsiteX0-37" fmla="*/ 0 w 10295"/>
              <a:gd name="connsiteY0-38" fmla="*/ 51 h 10000"/>
              <a:gd name="connsiteX1-39" fmla="*/ 4269 w 10295"/>
              <a:gd name="connsiteY1-40" fmla="*/ 47 h 10000"/>
              <a:gd name="connsiteX2-41" fmla="*/ 10295 w 10295"/>
              <a:gd name="connsiteY2-42" fmla="*/ 10000 h 10000"/>
              <a:gd name="connsiteX0-43" fmla="*/ 0 w 10295"/>
              <a:gd name="connsiteY0-44" fmla="*/ 895 h 10844"/>
              <a:gd name="connsiteX1-45" fmla="*/ 4269 w 10295"/>
              <a:gd name="connsiteY1-46" fmla="*/ 891 h 10844"/>
              <a:gd name="connsiteX2-47" fmla="*/ 10295 w 10295"/>
              <a:gd name="connsiteY2-48" fmla="*/ 10844 h 10844"/>
              <a:gd name="connsiteX0-49" fmla="*/ 0 w 10295"/>
              <a:gd name="connsiteY0-50" fmla="*/ 895 h 10844"/>
              <a:gd name="connsiteX1-51" fmla="*/ 4269 w 10295"/>
              <a:gd name="connsiteY1-52" fmla="*/ 891 h 10844"/>
              <a:gd name="connsiteX2-53" fmla="*/ 10295 w 10295"/>
              <a:gd name="connsiteY2-54" fmla="*/ 10844 h 10844"/>
              <a:gd name="connsiteX0-55" fmla="*/ 0 w 10295"/>
              <a:gd name="connsiteY0-56" fmla="*/ 6 h 9955"/>
              <a:gd name="connsiteX1-57" fmla="*/ 4269 w 10295"/>
              <a:gd name="connsiteY1-58" fmla="*/ 2 h 9955"/>
              <a:gd name="connsiteX2-59" fmla="*/ 10295 w 10295"/>
              <a:gd name="connsiteY2-60" fmla="*/ 9955 h 9955"/>
              <a:gd name="connsiteX0-61" fmla="*/ 0 w 10000"/>
              <a:gd name="connsiteY0-62" fmla="*/ 6 h 10000"/>
              <a:gd name="connsiteX1-63" fmla="*/ 4147 w 10000"/>
              <a:gd name="connsiteY1-64" fmla="*/ 2 h 10000"/>
              <a:gd name="connsiteX2-65" fmla="*/ 10000 w 10000"/>
              <a:gd name="connsiteY2-66" fmla="*/ 10000 h 10000"/>
              <a:gd name="connsiteX0-67" fmla="*/ 0 w 10000"/>
              <a:gd name="connsiteY0-68" fmla="*/ 1084 h 11078"/>
              <a:gd name="connsiteX1-69" fmla="*/ 4147 w 10000"/>
              <a:gd name="connsiteY1-70" fmla="*/ 1080 h 11078"/>
              <a:gd name="connsiteX2-71" fmla="*/ 10000 w 10000"/>
              <a:gd name="connsiteY2-72" fmla="*/ 11078 h 11078"/>
              <a:gd name="connsiteX0-73" fmla="*/ 0 w 10000"/>
              <a:gd name="connsiteY0-74" fmla="*/ 1084 h 11078"/>
              <a:gd name="connsiteX1-75" fmla="*/ 4147 w 10000"/>
              <a:gd name="connsiteY1-76" fmla="*/ 1080 h 11078"/>
              <a:gd name="connsiteX2-77" fmla="*/ 10000 w 10000"/>
              <a:gd name="connsiteY2-78" fmla="*/ 11078 h 11078"/>
              <a:gd name="connsiteX0-79" fmla="*/ 0 w 10000"/>
              <a:gd name="connsiteY0-80" fmla="*/ 1084 h 11078"/>
              <a:gd name="connsiteX1-81" fmla="*/ 4147 w 10000"/>
              <a:gd name="connsiteY1-82" fmla="*/ 1080 h 11078"/>
              <a:gd name="connsiteX2-83" fmla="*/ 10000 w 10000"/>
              <a:gd name="connsiteY2-84" fmla="*/ 11078 h 11078"/>
              <a:gd name="connsiteX0-85" fmla="*/ 0 w 10000"/>
              <a:gd name="connsiteY0-86" fmla="*/ 4 h 9998"/>
              <a:gd name="connsiteX1-87" fmla="*/ 4147 w 10000"/>
              <a:gd name="connsiteY1-88" fmla="*/ 0 h 9998"/>
              <a:gd name="connsiteX2-89" fmla="*/ 10000 w 10000"/>
              <a:gd name="connsiteY2-90" fmla="*/ 9998 h 9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998">
                <a:moveTo>
                  <a:pt x="0" y="4"/>
                </a:moveTo>
                <a:cubicBezTo>
                  <a:pt x="5881" y="89"/>
                  <a:pt x="75" y="23"/>
                  <a:pt x="4147" y="0"/>
                </a:cubicBezTo>
                <a:cubicBezTo>
                  <a:pt x="6049" y="2953"/>
                  <a:pt x="5181" y="2235"/>
                  <a:pt x="10000" y="9998"/>
                </a:cubicBezTo>
              </a:path>
            </a:pathLst>
          </a:custGeom>
          <a:noFill/>
          <a:ln w="9525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8" name="任意多边形 27"/>
          <p:cNvSpPr/>
          <p:nvPr>
            <p:custDataLst>
              <p:tags r:id="rId4"/>
            </p:custDataLst>
          </p:nvPr>
        </p:nvSpPr>
        <p:spPr>
          <a:xfrm>
            <a:off x="4235120" y="5366485"/>
            <a:ext cx="919611" cy="119114"/>
          </a:xfrm>
          <a:custGeom>
            <a:avLst/>
            <a:gdLst>
              <a:gd name="connsiteX0" fmla="*/ 0 w 1174"/>
              <a:gd name="connsiteY0" fmla="*/ 0 h 662"/>
              <a:gd name="connsiteX1" fmla="*/ 480 w 1174"/>
              <a:gd name="connsiteY1" fmla="*/ 480 h 662"/>
              <a:gd name="connsiteX2" fmla="*/ 1174 w 1174"/>
              <a:gd name="connsiteY2" fmla="*/ 662 h 662"/>
              <a:gd name="connsiteX0-1" fmla="*/ 0 w 10000"/>
              <a:gd name="connsiteY0-2" fmla="*/ 469 h 10469"/>
              <a:gd name="connsiteX1-3" fmla="*/ 8549 w 10000"/>
              <a:gd name="connsiteY1-4" fmla="*/ 0 h 10469"/>
              <a:gd name="connsiteX2-5" fmla="*/ 10000 w 10000"/>
              <a:gd name="connsiteY2-6" fmla="*/ 10469 h 10469"/>
              <a:gd name="connsiteX0-7" fmla="*/ 0 w 12230"/>
              <a:gd name="connsiteY0-8" fmla="*/ 469 h 4464"/>
              <a:gd name="connsiteX1-9" fmla="*/ 8549 w 12230"/>
              <a:gd name="connsiteY1-10" fmla="*/ 0 h 4464"/>
              <a:gd name="connsiteX2-11" fmla="*/ 12230 w 12230"/>
              <a:gd name="connsiteY2-12" fmla="*/ 4464 h 44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230" h="4464">
                <a:moveTo>
                  <a:pt x="0" y="469"/>
                </a:moveTo>
                <a:lnTo>
                  <a:pt x="8549" y="0"/>
                </a:lnTo>
                <a:cubicBezTo>
                  <a:pt x="10519" y="916"/>
                  <a:pt x="10260" y="3548"/>
                  <a:pt x="12230" y="4464"/>
                </a:cubicBezTo>
              </a:path>
            </a:pathLst>
          </a:custGeom>
          <a:noFill/>
          <a:ln w="9525" cap="flat" cmpd="sng" algn="ctr">
            <a:solidFill>
              <a:srgbClr val="F84949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" name="任意多边形 21"/>
          <p:cNvSpPr/>
          <p:nvPr>
            <p:custDataLst>
              <p:tags r:id="rId5"/>
            </p:custDataLst>
          </p:nvPr>
        </p:nvSpPr>
        <p:spPr>
          <a:xfrm>
            <a:off x="4257534" y="1907697"/>
            <a:ext cx="1650945" cy="765275"/>
          </a:xfrm>
          <a:custGeom>
            <a:avLst/>
            <a:gdLst>
              <a:gd name="connsiteX0" fmla="*/ 0 w 1790"/>
              <a:gd name="connsiteY0" fmla="*/ 0 h 193"/>
              <a:gd name="connsiteX1" fmla="*/ 1096 w 1790"/>
              <a:gd name="connsiteY1" fmla="*/ 11 h 193"/>
              <a:gd name="connsiteX2" fmla="*/ 1790 w 1790"/>
              <a:gd name="connsiteY2" fmla="*/ 193 h 193"/>
              <a:gd name="connsiteX0-1" fmla="*/ 0 w 10000"/>
              <a:gd name="connsiteY0-2" fmla="*/ 29 h 10029"/>
              <a:gd name="connsiteX1-3" fmla="*/ 5658 w 10000"/>
              <a:gd name="connsiteY1-4" fmla="*/ 0 h 10029"/>
              <a:gd name="connsiteX2-5" fmla="*/ 10000 w 10000"/>
              <a:gd name="connsiteY2-6" fmla="*/ 10029 h 100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10029">
                <a:moveTo>
                  <a:pt x="0" y="29"/>
                </a:moveTo>
                <a:lnTo>
                  <a:pt x="5658" y="0"/>
                </a:lnTo>
                <a:cubicBezTo>
                  <a:pt x="6950" y="3143"/>
                  <a:pt x="8708" y="6886"/>
                  <a:pt x="10000" y="10029"/>
                </a:cubicBezTo>
              </a:path>
            </a:pathLst>
          </a:custGeom>
          <a:noFill/>
          <a:ln w="9525" cap="flat" cmpd="sng" algn="ctr">
            <a:solidFill>
              <a:srgbClr val="376FFF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6"/>
            </p:custDataLst>
          </p:nvPr>
        </p:nvSpPr>
        <p:spPr>
          <a:xfrm flipH="1">
            <a:off x="7697749" y="1910258"/>
            <a:ext cx="835719" cy="929857"/>
          </a:xfrm>
          <a:custGeom>
            <a:avLst/>
            <a:gdLst>
              <a:gd name="connsiteX0" fmla="*/ 0 w 1305"/>
              <a:gd name="connsiteY0" fmla="*/ 0 h 450"/>
              <a:gd name="connsiteX1" fmla="*/ 870 w 1305"/>
              <a:gd name="connsiteY1" fmla="*/ 15 h 450"/>
              <a:gd name="connsiteX2" fmla="*/ 1305 w 1305"/>
              <a:gd name="connsiteY2" fmla="*/ 450 h 450"/>
              <a:gd name="connsiteX0-1" fmla="*/ 0 w 10000"/>
              <a:gd name="connsiteY0-2" fmla="*/ 0 h 10000"/>
              <a:gd name="connsiteX1-3" fmla="*/ 6576 w 10000"/>
              <a:gd name="connsiteY1-4" fmla="*/ 5 h 10000"/>
              <a:gd name="connsiteX2-5" fmla="*/ 10000 w 10000"/>
              <a:gd name="connsiteY2-6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6576" y="5"/>
                </a:lnTo>
                <a:cubicBezTo>
                  <a:pt x="7687" y="3227"/>
                  <a:pt x="8889" y="6778"/>
                  <a:pt x="10000" y="10000"/>
                </a:cubicBezTo>
              </a:path>
            </a:pathLst>
          </a:custGeom>
          <a:noFill/>
          <a:ln w="9525" cap="flat" cmpd="sng" algn="ctr">
            <a:solidFill>
              <a:srgbClr val="17D594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9003520" y="5527865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负责后厨成本控制。通过标准化操作减少生产过程中的报废与浪费。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9007362" y="5116730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7429"/>
                </a:solidFill>
                <a:latin typeface="+mn-ea"/>
                <a:cs typeface="+mn-ea"/>
                <a:sym typeface="+mn-ea"/>
              </a:rPr>
              <a:t>成本管控</a:t>
            </a:r>
            <a:endParaRPr lang="zh-CN" altLang="en-US" sz="2000" b="1">
              <a:solidFill>
                <a:srgbClr val="FF742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9"/>
            </p:custDataLst>
          </p:nvPr>
        </p:nvSpPr>
        <p:spPr>
          <a:xfrm>
            <a:off x="8963025" y="2071370"/>
            <a:ext cx="2854960" cy="1023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负责班次生产计划的落地。根据门店销售节奏，合理安排生产顺序与数量，确保产品供应及时，不缺货、不断档。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9006722" y="1663065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17D594"/>
                </a:solidFill>
                <a:latin typeface="+mn-ea"/>
                <a:cs typeface="+mn-ea"/>
                <a:sym typeface="+mn-ea"/>
              </a:rPr>
              <a:t>生产达成</a:t>
            </a:r>
            <a:endParaRPr lang="zh-CN" altLang="en-US" sz="2000" b="1">
              <a:solidFill>
                <a:srgbClr val="17D594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1"/>
            </p:custDataLst>
          </p:nvPr>
        </p:nvSpPr>
        <p:spPr>
          <a:xfrm>
            <a:off x="9003520" y="3810959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负责从原料到成品的品质全过程监管。严格执行配方标准、烘烤参数及装饰规范，确保出炉产品品质 100% 合格。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2"/>
            </p:custDataLst>
          </p:nvPr>
        </p:nvSpPr>
        <p:spPr>
          <a:xfrm>
            <a:off x="9007362" y="3390859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C000"/>
                </a:solidFill>
                <a:latin typeface="+mn-ea"/>
                <a:cs typeface="+mn-ea"/>
                <a:sym typeface="+mn-ea"/>
              </a:rPr>
              <a:t>质量把控</a:t>
            </a:r>
            <a:endParaRPr lang="zh-CN" altLang="en-US" sz="2000" b="1">
              <a:solidFill>
                <a:srgbClr val="FFC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13"/>
            </p:custDataLst>
          </p:nvPr>
        </p:nvSpPr>
        <p:spPr>
          <a:xfrm>
            <a:off x="921703" y="5536831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负责后厨环境与食品安全。监督生熟分开、效期管理及设备清洁，满足食安规范及顾客需求。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5" name="矩形 34"/>
          <p:cNvSpPr/>
          <p:nvPr>
            <p:custDataLst>
              <p:tags r:id="rId14"/>
            </p:custDataLst>
          </p:nvPr>
        </p:nvSpPr>
        <p:spPr>
          <a:xfrm>
            <a:off x="925545" y="5116730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84949"/>
                </a:solidFill>
                <a:latin typeface="+mn-ea"/>
                <a:cs typeface="+mn-ea"/>
                <a:sym typeface="+mn-ea"/>
              </a:rPr>
              <a:t>食安维护</a:t>
            </a:r>
            <a:endParaRPr lang="zh-CN" altLang="en-US" sz="2000" b="1">
              <a:solidFill>
                <a:srgbClr val="F8494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6" name="矩形 35"/>
          <p:cNvSpPr/>
          <p:nvPr>
            <p:custDataLst>
              <p:tags r:id="rId15"/>
            </p:custDataLst>
          </p:nvPr>
        </p:nvSpPr>
        <p:spPr>
          <a:xfrm>
            <a:off x="921703" y="2071640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负责后厨员工的实操培训。提升伙伴的生产效率、操作速度和技术水平，确保团队具备多岗位操作能力。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3" name="矩形 42"/>
          <p:cNvSpPr/>
          <p:nvPr>
            <p:custDataLst>
              <p:tags r:id="rId16"/>
            </p:custDataLst>
          </p:nvPr>
        </p:nvSpPr>
        <p:spPr>
          <a:xfrm>
            <a:off x="924905" y="1663065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>
                  <a:gsLst>
                    <a:gs pos="0">
                      <a:srgbClr val="376FFF">
                        <a:lumMod val="80000"/>
                        <a:lumOff val="20000"/>
                      </a:srgbClr>
                    </a:gs>
                    <a:gs pos="100000">
                      <a:srgbClr val="376FFF">
                        <a:lumMod val="80000"/>
                        <a:lumOff val="20000"/>
                      </a:srgbClr>
                    </a:gs>
                  </a:gsLst>
                  <a:lin ang="5400000" scaled="0"/>
                </a:gradFill>
                <a:latin typeface="+mn-ea"/>
                <a:cs typeface="+mn-ea"/>
                <a:sym typeface="+mn-ea"/>
              </a:rPr>
              <a:t>技能带教</a:t>
            </a:r>
            <a:endParaRPr lang="zh-CN" altLang="en-US" sz="2000" b="1">
              <a:gradFill>
                <a:gsLst>
                  <a:gs pos="0">
                    <a:srgbClr val="376FFF">
                      <a:lumMod val="80000"/>
                      <a:lumOff val="20000"/>
                    </a:srgbClr>
                  </a:gs>
                  <a:gs pos="100000">
                    <a:srgbClr val="376FFF">
                      <a:lumMod val="80000"/>
                      <a:lumOff val="20000"/>
                    </a:srgbClr>
                  </a:gs>
                </a:gsLst>
                <a:lin ang="5400000" scaled="0"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7"/>
            </p:custDataLst>
          </p:nvPr>
        </p:nvSpPr>
        <p:spPr>
          <a:xfrm>
            <a:off x="3967434" y="1848780"/>
            <a:ext cx="151134" cy="151134"/>
          </a:xfrm>
          <a:prstGeom prst="ellipse">
            <a:avLst/>
          </a:prstGeom>
          <a:gradFill>
            <a:gsLst>
              <a:gs pos="0">
                <a:srgbClr val="376FFF">
                  <a:lumMod val="75000"/>
                  <a:lumOff val="25000"/>
                </a:srgbClr>
              </a:gs>
              <a:gs pos="100000">
                <a:srgbClr val="376FFF">
                  <a:lumMod val="85000"/>
                  <a:lumOff val="15000"/>
                </a:srgbClr>
              </a:gs>
            </a:gsLst>
            <a:lin ang="2700000" scaled="0"/>
          </a:gradFill>
          <a:ln w="3175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8"/>
            </p:custDataLst>
          </p:nvPr>
        </p:nvSpPr>
        <p:spPr>
          <a:xfrm>
            <a:off x="3961030" y="5303086"/>
            <a:ext cx="151134" cy="151134"/>
          </a:xfrm>
          <a:prstGeom prst="ellipse">
            <a:avLst/>
          </a:prstGeom>
          <a:gradFill>
            <a:gsLst>
              <a:gs pos="100000">
                <a:srgbClr val="F84949"/>
              </a:gs>
              <a:gs pos="0">
                <a:srgbClr val="F84949">
                  <a:lumMod val="85000"/>
                  <a:lumOff val="1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921703" y="3815442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/>
              <a:t>协助店长达成门店整体绩效。落实后厨相关的各项管理任务，配合销售需求进行生产。</a:t>
            </a:r>
            <a:endParaRPr lang="zh-CN" altLang="en-US" sz="1400"/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0"/>
            </p:custDataLst>
          </p:nvPr>
        </p:nvSpPr>
        <p:spPr>
          <a:xfrm>
            <a:off x="925545" y="3390859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8830FE"/>
                </a:solidFill>
                <a:latin typeface="+mn-ea"/>
                <a:cs typeface="+mn-ea"/>
                <a:sym typeface="+mn-ea"/>
              </a:rPr>
              <a:t>店长助手</a:t>
            </a:r>
            <a:endParaRPr lang="zh-CN" altLang="en-US" sz="2000" b="1">
              <a:solidFill>
                <a:srgbClr val="8830FE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4" name="椭圆 33"/>
          <p:cNvSpPr/>
          <p:nvPr>
            <p:custDataLst>
              <p:tags r:id="rId21"/>
            </p:custDataLst>
          </p:nvPr>
        </p:nvSpPr>
        <p:spPr>
          <a:xfrm>
            <a:off x="3961030" y="3577214"/>
            <a:ext cx="151134" cy="151134"/>
          </a:xfrm>
          <a:prstGeom prst="ellipse">
            <a:avLst/>
          </a:prstGeom>
          <a:gradFill>
            <a:gsLst>
              <a:gs pos="100000">
                <a:srgbClr val="8830FE"/>
              </a:gs>
              <a:gs pos="0">
                <a:srgbClr val="8830FE">
                  <a:lumMod val="85000"/>
                  <a:lumOff val="1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1" name="椭圆 40"/>
          <p:cNvSpPr/>
          <p:nvPr>
            <p:custDataLst>
              <p:tags r:id="rId22"/>
            </p:custDataLst>
          </p:nvPr>
        </p:nvSpPr>
        <p:spPr>
          <a:xfrm>
            <a:off x="4515614" y="2747899"/>
            <a:ext cx="1687448" cy="1687448"/>
          </a:xfrm>
          <a:prstGeom prst="ellipse">
            <a:avLst/>
          </a:prstGeom>
          <a:gradFill>
            <a:gsLst>
              <a:gs pos="100000">
                <a:srgbClr val="8830FE">
                  <a:lumMod val="80000"/>
                  <a:lumOff val="20000"/>
                </a:srgbClr>
              </a:gs>
              <a:gs pos="0">
                <a:srgbClr val="8830FE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1" name="椭圆 50"/>
          <p:cNvSpPr/>
          <p:nvPr>
            <p:custDataLst>
              <p:tags r:id="rId23"/>
            </p:custDataLst>
          </p:nvPr>
        </p:nvSpPr>
        <p:spPr>
          <a:xfrm>
            <a:off x="4515614" y="3900615"/>
            <a:ext cx="1687448" cy="1687448"/>
          </a:xfrm>
          <a:prstGeom prst="ellipse">
            <a:avLst/>
          </a:prstGeom>
          <a:gradFill>
            <a:gsLst>
              <a:gs pos="100000">
                <a:srgbClr val="F84949">
                  <a:lumMod val="80000"/>
                  <a:lumOff val="20000"/>
                </a:srgbClr>
              </a:gs>
              <a:gs pos="0">
                <a:srgbClr val="F84949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" name="椭圆 39"/>
          <p:cNvSpPr/>
          <p:nvPr>
            <p:custDataLst>
              <p:tags r:id="rId24"/>
            </p:custDataLst>
          </p:nvPr>
        </p:nvSpPr>
        <p:spPr>
          <a:xfrm>
            <a:off x="5513994" y="4476973"/>
            <a:ext cx="1687448" cy="1687448"/>
          </a:xfrm>
          <a:prstGeom prst="ellipse">
            <a:avLst/>
          </a:prstGeom>
          <a:gradFill>
            <a:gsLst>
              <a:gs pos="100000">
                <a:srgbClr val="FF7429">
                  <a:lumMod val="80000"/>
                  <a:lumOff val="20000"/>
                </a:srgbClr>
              </a:gs>
              <a:gs pos="0">
                <a:srgbClr val="FF7429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椭圆 1"/>
          <p:cNvSpPr/>
          <p:nvPr>
            <p:custDataLst>
              <p:tags r:id="rId25"/>
            </p:custDataLst>
          </p:nvPr>
        </p:nvSpPr>
        <p:spPr>
          <a:xfrm>
            <a:off x="6512374" y="3900615"/>
            <a:ext cx="1687448" cy="1687448"/>
          </a:xfrm>
          <a:prstGeom prst="ellipse">
            <a:avLst/>
          </a:prstGeom>
          <a:gradFill>
            <a:gsLst>
              <a:gs pos="0">
                <a:srgbClr val="FFC000"/>
              </a:gs>
              <a:gs pos="100000">
                <a:srgbClr val="FFC000">
                  <a:lumMod val="80000"/>
                  <a:lumOff val="20000"/>
                </a:srgbClr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8" name="椭圆 37"/>
          <p:cNvSpPr/>
          <p:nvPr>
            <p:custDataLst>
              <p:tags r:id="rId26"/>
            </p:custDataLst>
          </p:nvPr>
        </p:nvSpPr>
        <p:spPr>
          <a:xfrm>
            <a:off x="6512374" y="2747899"/>
            <a:ext cx="1687448" cy="1687448"/>
          </a:xfrm>
          <a:prstGeom prst="ellipse">
            <a:avLst/>
          </a:prstGeom>
          <a:gradFill>
            <a:gsLst>
              <a:gs pos="100000">
                <a:srgbClr val="17D594">
                  <a:lumMod val="80000"/>
                  <a:lumOff val="20000"/>
                </a:srgbClr>
              </a:gs>
              <a:gs pos="0">
                <a:srgbClr val="17D594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任意多边形 30"/>
          <p:cNvSpPr/>
          <p:nvPr>
            <p:custDataLst>
              <p:tags r:id="rId27"/>
            </p:custDataLst>
          </p:nvPr>
        </p:nvSpPr>
        <p:spPr>
          <a:xfrm>
            <a:off x="5549856" y="2171542"/>
            <a:ext cx="1650945" cy="168744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578" h="2635">
                <a:moveTo>
                  <a:pt x="1261" y="0"/>
                </a:moveTo>
                <a:cubicBezTo>
                  <a:pt x="1988" y="0"/>
                  <a:pt x="2578" y="590"/>
                  <a:pt x="2578" y="1318"/>
                </a:cubicBezTo>
                <a:cubicBezTo>
                  <a:pt x="2578" y="2045"/>
                  <a:pt x="1988" y="2635"/>
                  <a:pt x="1261" y="2635"/>
                </a:cubicBezTo>
                <a:cubicBezTo>
                  <a:pt x="1158" y="2635"/>
                  <a:pt x="1059" y="2623"/>
                  <a:pt x="963" y="2601"/>
                </a:cubicBezTo>
                <a:lnTo>
                  <a:pt x="962" y="2601"/>
                </a:lnTo>
                <a:lnTo>
                  <a:pt x="969" y="2578"/>
                </a:lnTo>
                <a:cubicBezTo>
                  <a:pt x="1002" y="2464"/>
                  <a:pt x="1019" y="2343"/>
                  <a:pt x="1019" y="2218"/>
                </a:cubicBezTo>
                <a:cubicBezTo>
                  <a:pt x="1019" y="1604"/>
                  <a:pt x="599" y="1088"/>
                  <a:pt x="31" y="941"/>
                </a:cubicBezTo>
                <a:lnTo>
                  <a:pt x="0" y="934"/>
                </a:lnTo>
                <a:lnTo>
                  <a:pt x="2" y="926"/>
                </a:lnTo>
                <a:cubicBezTo>
                  <a:pt x="169" y="389"/>
                  <a:pt x="670" y="0"/>
                  <a:pt x="1261" y="0"/>
                </a:cubicBezTo>
                <a:close/>
              </a:path>
            </a:pathLst>
          </a:custGeom>
          <a:gradFill>
            <a:gsLst>
              <a:gs pos="100000">
                <a:srgbClr val="376FFF">
                  <a:lumMod val="80000"/>
                  <a:lumOff val="20000"/>
                </a:srgbClr>
              </a:gs>
              <a:gs pos="0">
                <a:srgbClr val="376FFF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2" name="椭圆 41"/>
          <p:cNvSpPr/>
          <p:nvPr>
            <p:custDataLst>
              <p:tags r:id="rId28"/>
            </p:custDataLst>
          </p:nvPr>
        </p:nvSpPr>
        <p:spPr>
          <a:xfrm>
            <a:off x="5479412" y="3289676"/>
            <a:ext cx="1755970" cy="175597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262626"/>
                </a:solidFill>
                <a:latin typeface="+mn-ea"/>
                <a:cs typeface="+mn-ea"/>
                <a:sym typeface="+mn-ea"/>
              </a:rPr>
              <a:t>后厨领班</a:t>
            </a:r>
            <a:endParaRPr lang="zh-CN" altLang="en-US" b="1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262626"/>
                </a:solidFill>
                <a:latin typeface="+mn-ea"/>
                <a:cs typeface="+mn-ea"/>
                <a:sym typeface="+mn-ea"/>
              </a:rPr>
              <a:t>角色</a:t>
            </a:r>
            <a:endParaRPr lang="zh-CN" altLang="en-US" b="1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29"/>
            </p:custDataLst>
          </p:nvPr>
        </p:nvSpPr>
        <p:spPr>
          <a:xfrm flipH="1">
            <a:off x="8611597" y="1856465"/>
            <a:ext cx="151134" cy="151134"/>
          </a:xfrm>
          <a:prstGeom prst="ellipse">
            <a:avLst/>
          </a:prstGeom>
          <a:gradFill>
            <a:gsLst>
              <a:gs pos="100000">
                <a:srgbClr val="17D594">
                  <a:lumMod val="85000"/>
                  <a:lumOff val="15000"/>
                </a:srgbClr>
              </a:gs>
              <a:gs pos="0">
                <a:srgbClr val="17D594">
                  <a:lumMod val="75000"/>
                  <a:lumOff val="2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3" name="图片 12" descr="343439383331313b343532303032383bbfcdbba7b9dcc0ed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336565" y="4784364"/>
            <a:ext cx="254238" cy="254238"/>
          </a:xfrm>
          <a:prstGeom prst="rect">
            <a:avLst/>
          </a:prstGeom>
        </p:spPr>
      </p:pic>
      <p:sp>
        <p:nvSpPr>
          <p:cNvPr id="17" name="椭圆 16"/>
          <p:cNvSpPr/>
          <p:nvPr>
            <p:custDataLst>
              <p:tags r:id="rId33"/>
            </p:custDataLst>
          </p:nvPr>
        </p:nvSpPr>
        <p:spPr>
          <a:xfrm flipH="1">
            <a:off x="8611597" y="5310770"/>
            <a:ext cx="151134" cy="151134"/>
          </a:xfrm>
          <a:prstGeom prst="ellipse">
            <a:avLst/>
          </a:prstGeom>
          <a:gradFill>
            <a:gsLst>
              <a:gs pos="100000">
                <a:srgbClr val="FF7429">
                  <a:lumMod val="85000"/>
                  <a:lumOff val="15000"/>
                </a:srgbClr>
              </a:gs>
              <a:gs pos="0">
                <a:srgbClr val="FF7429">
                  <a:lumMod val="75000"/>
                  <a:lumOff val="2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4" name="图片 15" descr="343439383331313b343532303033313bd3a6d3c3c9ccb3c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522280" y="3446573"/>
            <a:ext cx="254238" cy="254238"/>
          </a:xfrm>
          <a:prstGeom prst="rect">
            <a:avLst/>
          </a:prstGeom>
        </p:spPr>
      </p:pic>
      <p:sp>
        <p:nvSpPr>
          <p:cNvPr id="21" name="椭圆 20"/>
          <p:cNvSpPr/>
          <p:nvPr>
            <p:custDataLst>
              <p:tags r:id="rId37"/>
            </p:custDataLst>
          </p:nvPr>
        </p:nvSpPr>
        <p:spPr>
          <a:xfrm flipH="1">
            <a:off x="8613518" y="3584899"/>
            <a:ext cx="151134" cy="151134"/>
          </a:xfrm>
          <a:prstGeom prst="ellipse">
            <a:avLst/>
          </a:prstGeom>
          <a:gradFill>
            <a:gsLst>
              <a:gs pos="100000">
                <a:srgbClr val="FFC000">
                  <a:lumMod val="85000"/>
                  <a:lumOff val="15000"/>
                </a:srgbClr>
              </a:gs>
              <a:gs pos="0">
                <a:srgbClr val="FFC000">
                  <a:lumMod val="75000"/>
                  <a:lumOff val="2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9" name="图片 19" descr="343435383038363b343532323339393bd6b4d0d0d5aad2aa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167840" y="5390180"/>
            <a:ext cx="254238" cy="254238"/>
          </a:xfrm>
          <a:prstGeom prst="rect">
            <a:avLst/>
          </a:prstGeom>
        </p:spPr>
      </p:pic>
      <p:pic>
        <p:nvPicPr>
          <p:cNvPr id="52" name="图片 5" descr="343435383036303b343532343134393bcdb7c4d4b7e7b1a9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290796" y="2600608"/>
            <a:ext cx="254238" cy="254238"/>
          </a:xfrm>
          <a:prstGeom prst="rect">
            <a:avLst/>
          </a:prstGeom>
        </p:spPr>
      </p:pic>
      <p:pic>
        <p:nvPicPr>
          <p:cNvPr id="20" name="图片 16" descr="343439383331313b343532303033323bd3a6d3c3b9dcc0ed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075321" y="4628107"/>
            <a:ext cx="254238" cy="254238"/>
          </a:xfrm>
          <a:prstGeom prst="rect">
            <a:avLst/>
          </a:prstGeom>
        </p:spPr>
      </p:pic>
      <p:pic>
        <p:nvPicPr>
          <p:cNvPr id="26" name="图片 20" descr="343435383038363b343532323339383bd6b4d0d0cad6b6ce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123351" y="3280710"/>
            <a:ext cx="254238" cy="2542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后厨领班绩效的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大指标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任意多边形: 形状 66"/>
          <p:cNvSpPr/>
          <p:nvPr>
            <p:custDataLst>
              <p:tags r:id="rId1"/>
            </p:custDataLst>
          </p:nvPr>
        </p:nvSpPr>
        <p:spPr>
          <a:xfrm>
            <a:off x="4578668" y="3372168"/>
            <a:ext cx="1610360" cy="1339850"/>
          </a:xfrm>
          <a:custGeom>
            <a:avLst/>
            <a:gdLst>
              <a:gd name="connsiteX0" fmla="*/ 1276741 w 1276742"/>
              <a:gd name="connsiteY0" fmla="*/ 0 h 1061986"/>
              <a:gd name="connsiteX1" fmla="*/ 1276742 w 1276742"/>
              <a:gd name="connsiteY1" fmla="*/ 754178 h 1061986"/>
              <a:gd name="connsiteX2" fmla="*/ 1193218 w 1276742"/>
              <a:gd name="connsiteY2" fmla="*/ 758133 h 1061986"/>
              <a:gd name="connsiteX3" fmla="*/ 661068 w 1276742"/>
              <a:gd name="connsiteY3" fmla="*/ 955275 h 1061986"/>
              <a:gd name="connsiteX4" fmla="*/ 533981 w 1276742"/>
              <a:gd name="connsiteY4" fmla="*/ 1061986 h 1061986"/>
              <a:gd name="connsiteX5" fmla="*/ 0 w 1276742"/>
              <a:gd name="connsiteY5" fmla="*/ 528005 h 1061986"/>
              <a:gd name="connsiteX6" fmla="*/ 102148 w 1276742"/>
              <a:gd name="connsiteY6" fmla="*/ 434642 h 1061986"/>
              <a:gd name="connsiteX7" fmla="*/ 210764 w 1276742"/>
              <a:gd name="connsiteY7" fmla="*/ 350038 h 1061986"/>
              <a:gd name="connsiteX8" fmla="*/ 226476 w 1276742"/>
              <a:gd name="connsiteY8" fmla="*/ 339564 h 1061986"/>
              <a:gd name="connsiteX9" fmla="*/ 231818 w 1276742"/>
              <a:gd name="connsiteY9" fmla="*/ 349407 h 1061986"/>
              <a:gd name="connsiteX10" fmla="*/ 567617 w 1276742"/>
              <a:gd name="connsiteY10" fmla="*/ 527950 h 1061986"/>
              <a:gd name="connsiteX11" fmla="*/ 972577 w 1276742"/>
              <a:gd name="connsiteY11" fmla="*/ 122990 h 1061986"/>
              <a:gd name="connsiteX12" fmla="*/ 964350 w 1276742"/>
              <a:gd name="connsiteY12" fmla="*/ 41377 h 1061986"/>
              <a:gd name="connsiteX13" fmla="*/ 960889 w 1276742"/>
              <a:gd name="connsiteY13" fmla="*/ 30227 h 1061986"/>
              <a:gd name="connsiteX14" fmla="*/ 977784 w 1276742"/>
              <a:gd name="connsiteY14" fmla="*/ 26610 h 1061986"/>
              <a:gd name="connsiteX15" fmla="*/ 1120866 w 1276742"/>
              <a:gd name="connsiteY15" fmla="*/ 7380 h 1061986"/>
              <a:gd name="connsiteX16" fmla="*/ 1276741 w 1276742"/>
              <a:gd name="connsiteY16" fmla="*/ 0 h 106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76742" h="1061986">
                <a:moveTo>
                  <a:pt x="1276741" y="0"/>
                </a:moveTo>
                <a:lnTo>
                  <a:pt x="1276742" y="754178"/>
                </a:lnTo>
                <a:lnTo>
                  <a:pt x="1193218" y="758133"/>
                </a:lnTo>
                <a:cubicBezTo>
                  <a:pt x="996274" y="776879"/>
                  <a:pt x="814351" y="847135"/>
                  <a:pt x="661068" y="955275"/>
                </a:cubicBezTo>
                <a:lnTo>
                  <a:pt x="533981" y="1061986"/>
                </a:lnTo>
                <a:lnTo>
                  <a:pt x="0" y="528005"/>
                </a:lnTo>
                <a:lnTo>
                  <a:pt x="102148" y="434642"/>
                </a:lnTo>
                <a:cubicBezTo>
                  <a:pt x="137272" y="405144"/>
                  <a:pt x="173502" y="376919"/>
                  <a:pt x="210764" y="350038"/>
                </a:cubicBezTo>
                <a:lnTo>
                  <a:pt x="226476" y="339564"/>
                </a:lnTo>
                <a:lnTo>
                  <a:pt x="231818" y="349407"/>
                </a:lnTo>
                <a:cubicBezTo>
                  <a:pt x="304592" y="457127"/>
                  <a:pt x="427834" y="527950"/>
                  <a:pt x="567617" y="527950"/>
                </a:cubicBezTo>
                <a:cubicBezTo>
                  <a:pt x="791270" y="527950"/>
                  <a:pt x="972577" y="346643"/>
                  <a:pt x="972577" y="122990"/>
                </a:cubicBezTo>
                <a:cubicBezTo>
                  <a:pt x="972577" y="95034"/>
                  <a:pt x="969744" y="67739"/>
                  <a:pt x="964350" y="41377"/>
                </a:cubicBezTo>
                <a:lnTo>
                  <a:pt x="960889" y="30227"/>
                </a:lnTo>
                <a:lnTo>
                  <a:pt x="977784" y="26610"/>
                </a:lnTo>
                <a:cubicBezTo>
                  <a:pt x="1024895" y="18407"/>
                  <a:pt x="1072612" y="11973"/>
                  <a:pt x="1120866" y="7380"/>
                </a:cubicBezTo>
                <a:lnTo>
                  <a:pt x="1276741" y="0"/>
                </a:lnTo>
                <a:close/>
              </a:path>
            </a:pathLst>
          </a:custGeom>
          <a:gradFill>
            <a:gsLst>
              <a:gs pos="85000">
                <a:srgbClr val="17D594">
                  <a:lumMod val="70000"/>
                  <a:lumOff val="30000"/>
                </a:srgbClr>
              </a:gs>
              <a:gs pos="0">
                <a:srgbClr val="17D594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1" name="任意多边形: 形状 70"/>
          <p:cNvSpPr/>
          <p:nvPr>
            <p:custDataLst>
              <p:tags r:id="rId2"/>
            </p:custDataLst>
          </p:nvPr>
        </p:nvSpPr>
        <p:spPr>
          <a:xfrm rot="8100000">
            <a:off x="3635693" y="4452303"/>
            <a:ext cx="1609725" cy="1337310"/>
          </a:xfrm>
          <a:custGeom>
            <a:avLst/>
            <a:gdLst>
              <a:gd name="connsiteX0" fmla="*/ 0 w 1276199"/>
              <a:gd name="connsiteY0" fmla="*/ 1060005 h 1060005"/>
              <a:gd name="connsiteX1" fmla="*/ 0 w 1276199"/>
              <a:gd name="connsiteY1" fmla="*/ 304875 h 1060005"/>
              <a:gd name="connsiteX2" fmla="*/ 161676 w 1276199"/>
              <a:gd name="connsiteY2" fmla="*/ 291757 h 1060005"/>
              <a:gd name="connsiteX3" fmla="*/ 678505 w 1276199"/>
              <a:gd name="connsiteY3" fmla="*/ 58217 h 1060005"/>
              <a:gd name="connsiteX4" fmla="*/ 742913 w 1276199"/>
              <a:gd name="connsiteY4" fmla="*/ 0 h 1060005"/>
              <a:gd name="connsiteX5" fmla="*/ 1276199 w 1276199"/>
              <a:gd name="connsiteY5" fmla="*/ 533284 h 1060005"/>
              <a:gd name="connsiteX6" fmla="*/ 1154511 w 1276199"/>
              <a:gd name="connsiteY6" fmla="*/ 643273 h 1060005"/>
              <a:gd name="connsiteX7" fmla="*/ 1039317 w 1276199"/>
              <a:gd name="connsiteY7" fmla="*/ 730030 h 1060005"/>
              <a:gd name="connsiteX8" fmla="*/ 1004619 w 1276199"/>
              <a:gd name="connsiteY8" fmla="*/ 752187 h 1060005"/>
              <a:gd name="connsiteX9" fmla="*/ 999492 w 1276199"/>
              <a:gd name="connsiteY9" fmla="*/ 742444 h 1060005"/>
              <a:gd name="connsiteX10" fmla="*/ 947600 w 1276199"/>
              <a:gd name="connsiteY10" fmla="*/ 678917 h 1060005"/>
              <a:gd name="connsiteX11" fmla="*/ 374901 w 1276199"/>
              <a:gd name="connsiteY11" fmla="*/ 678917 h 1060005"/>
              <a:gd name="connsiteX12" fmla="*/ 256290 w 1276199"/>
              <a:gd name="connsiteY12" fmla="*/ 965267 h 1060005"/>
              <a:gd name="connsiteX13" fmla="*/ 263374 w 1276199"/>
              <a:gd name="connsiteY13" fmla="*/ 1039178 h 1060005"/>
              <a:gd name="connsiteX14" fmla="*/ 130034 w 1276199"/>
              <a:gd name="connsiteY14" fmla="*/ 1054940 h 1060005"/>
              <a:gd name="connsiteX15" fmla="*/ 0 w 1276199"/>
              <a:gd name="connsiteY15" fmla="*/ 1060005 h 106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76199" h="1060005">
                <a:moveTo>
                  <a:pt x="0" y="1060005"/>
                </a:moveTo>
                <a:lnTo>
                  <a:pt x="0" y="304875"/>
                </a:lnTo>
                <a:lnTo>
                  <a:pt x="161676" y="291757"/>
                </a:lnTo>
                <a:cubicBezTo>
                  <a:pt x="346683" y="260953"/>
                  <a:pt x="525381" y="183107"/>
                  <a:pt x="678505" y="58217"/>
                </a:cubicBezTo>
                <a:lnTo>
                  <a:pt x="742913" y="0"/>
                </a:lnTo>
                <a:lnTo>
                  <a:pt x="1276199" y="533284"/>
                </a:lnTo>
                <a:lnTo>
                  <a:pt x="1154511" y="643273"/>
                </a:lnTo>
                <a:cubicBezTo>
                  <a:pt x="1116994" y="673873"/>
                  <a:pt x="1078562" y="702792"/>
                  <a:pt x="1039317" y="730030"/>
                </a:cubicBezTo>
                <a:lnTo>
                  <a:pt x="1004619" y="752187"/>
                </a:lnTo>
                <a:lnTo>
                  <a:pt x="999492" y="742444"/>
                </a:lnTo>
                <a:cubicBezTo>
                  <a:pt x="984666" y="719989"/>
                  <a:pt x="967369" y="698685"/>
                  <a:pt x="947600" y="678917"/>
                </a:cubicBezTo>
                <a:cubicBezTo>
                  <a:pt x="789454" y="520771"/>
                  <a:pt x="533047" y="520771"/>
                  <a:pt x="374901" y="678917"/>
                </a:cubicBezTo>
                <a:cubicBezTo>
                  <a:pt x="295827" y="757990"/>
                  <a:pt x="256291" y="861629"/>
                  <a:pt x="256290" y="965267"/>
                </a:cubicBezTo>
                <a:lnTo>
                  <a:pt x="263374" y="1039178"/>
                </a:lnTo>
                <a:lnTo>
                  <a:pt x="130034" y="1054940"/>
                </a:lnTo>
                <a:lnTo>
                  <a:pt x="0" y="1060005"/>
                </a:lnTo>
                <a:close/>
              </a:path>
            </a:pathLst>
          </a:custGeom>
          <a:gradFill>
            <a:gsLst>
              <a:gs pos="85000">
                <a:srgbClr val="376FFF">
                  <a:lumMod val="70000"/>
                  <a:lumOff val="30000"/>
                </a:srgbClr>
              </a:gs>
              <a:gs pos="0">
                <a:srgbClr val="376FFF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椭圆 54"/>
          <p:cNvSpPr/>
          <p:nvPr>
            <p:custDataLst>
              <p:tags r:id="rId3"/>
            </p:custDataLst>
          </p:nvPr>
        </p:nvSpPr>
        <p:spPr>
          <a:xfrm>
            <a:off x="4854893" y="3083878"/>
            <a:ext cx="877570" cy="877570"/>
          </a:xfrm>
          <a:prstGeom prst="ellipse">
            <a:avLst/>
          </a:prstGeom>
          <a:gradFill>
            <a:gsLst>
              <a:gs pos="44000">
                <a:srgbClr val="17D594"/>
              </a:gs>
              <a:gs pos="0">
                <a:srgbClr val="17D594">
                  <a:lumMod val="40000"/>
                  <a:lumOff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效率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6" name="椭圆 55"/>
          <p:cNvSpPr/>
          <p:nvPr>
            <p:custDataLst>
              <p:tags r:id="rId4"/>
            </p:custDataLst>
          </p:nvPr>
        </p:nvSpPr>
        <p:spPr>
          <a:xfrm>
            <a:off x="3593148" y="4310698"/>
            <a:ext cx="877570" cy="877570"/>
          </a:xfrm>
          <a:prstGeom prst="ellipse">
            <a:avLst/>
          </a:prstGeom>
          <a:gradFill>
            <a:gsLst>
              <a:gs pos="44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  <a:gs pos="66000">
                <a:srgbClr val="376FFF"/>
              </a:gs>
              <a:gs pos="100000">
                <a:srgbClr val="376FFF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质量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7" name="任意多边形: 形状 72"/>
          <p:cNvSpPr/>
          <p:nvPr>
            <p:custDataLst>
              <p:tags r:id="rId5"/>
            </p:custDataLst>
          </p:nvPr>
        </p:nvSpPr>
        <p:spPr>
          <a:xfrm>
            <a:off x="6246178" y="3372168"/>
            <a:ext cx="1612900" cy="1341755"/>
          </a:xfrm>
          <a:custGeom>
            <a:avLst/>
            <a:gdLst>
              <a:gd name="connsiteX0" fmla="*/ 0 w 1278677"/>
              <a:gd name="connsiteY0" fmla="*/ 0 h 1063676"/>
              <a:gd name="connsiteX1" fmla="*/ 155877 w 1278677"/>
              <a:gd name="connsiteY1" fmla="*/ 7381 h 1063676"/>
              <a:gd name="connsiteX2" fmla="*/ 298959 w 1278677"/>
              <a:gd name="connsiteY2" fmla="*/ 26610 h 1063676"/>
              <a:gd name="connsiteX3" fmla="*/ 335795 w 1278677"/>
              <a:gd name="connsiteY3" fmla="*/ 34495 h 1063676"/>
              <a:gd name="connsiteX4" fmla="*/ 331683 w 1278677"/>
              <a:gd name="connsiteY4" fmla="*/ 47742 h 1063676"/>
              <a:gd name="connsiteX5" fmla="*/ 323456 w 1278677"/>
              <a:gd name="connsiteY5" fmla="*/ 129355 h 1063676"/>
              <a:gd name="connsiteX6" fmla="*/ 728416 w 1278677"/>
              <a:gd name="connsiteY6" fmla="*/ 534315 h 1063676"/>
              <a:gd name="connsiteX7" fmla="*/ 1064215 w 1278677"/>
              <a:gd name="connsiteY7" fmla="*/ 355772 h 1063676"/>
              <a:gd name="connsiteX8" fmla="*/ 1066927 w 1278677"/>
              <a:gd name="connsiteY8" fmla="*/ 350776 h 1063676"/>
              <a:gd name="connsiteX9" fmla="*/ 1174595 w 1278677"/>
              <a:gd name="connsiteY9" fmla="*/ 434643 h 1063676"/>
              <a:gd name="connsiteX10" fmla="*/ 1278677 w 1278677"/>
              <a:gd name="connsiteY10" fmla="*/ 529773 h 1063676"/>
              <a:gd name="connsiteX11" fmla="*/ 744774 w 1278677"/>
              <a:gd name="connsiteY11" fmla="*/ 1063676 h 1063676"/>
              <a:gd name="connsiteX12" fmla="*/ 615675 w 1278677"/>
              <a:gd name="connsiteY12" fmla="*/ 955276 h 1063676"/>
              <a:gd name="connsiteX13" fmla="*/ 83525 w 1278677"/>
              <a:gd name="connsiteY13" fmla="*/ 758134 h 1063676"/>
              <a:gd name="connsiteX14" fmla="*/ 0 w 1278677"/>
              <a:gd name="connsiteY14" fmla="*/ 754179 h 1063676"/>
              <a:gd name="connsiteX15" fmla="*/ 0 w 1278677"/>
              <a:gd name="connsiteY15" fmla="*/ 0 h 106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78677" h="1063676">
                <a:moveTo>
                  <a:pt x="0" y="0"/>
                </a:moveTo>
                <a:lnTo>
                  <a:pt x="155877" y="7381"/>
                </a:lnTo>
                <a:cubicBezTo>
                  <a:pt x="204131" y="11974"/>
                  <a:pt x="251848" y="18407"/>
                  <a:pt x="298959" y="26610"/>
                </a:cubicBezTo>
                <a:lnTo>
                  <a:pt x="335795" y="34495"/>
                </a:lnTo>
                <a:lnTo>
                  <a:pt x="331683" y="47742"/>
                </a:lnTo>
                <a:cubicBezTo>
                  <a:pt x="326289" y="74104"/>
                  <a:pt x="323456" y="101399"/>
                  <a:pt x="323456" y="129355"/>
                </a:cubicBezTo>
                <a:cubicBezTo>
                  <a:pt x="323456" y="353008"/>
                  <a:pt x="504763" y="534315"/>
                  <a:pt x="728416" y="534315"/>
                </a:cubicBezTo>
                <a:cubicBezTo>
                  <a:pt x="868199" y="534315"/>
                  <a:pt x="991441" y="463492"/>
                  <a:pt x="1064215" y="355772"/>
                </a:cubicBezTo>
                <a:lnTo>
                  <a:pt x="1066927" y="350776"/>
                </a:lnTo>
                <a:lnTo>
                  <a:pt x="1174595" y="434643"/>
                </a:lnTo>
                <a:lnTo>
                  <a:pt x="1278677" y="529773"/>
                </a:lnTo>
                <a:lnTo>
                  <a:pt x="744774" y="1063676"/>
                </a:lnTo>
                <a:lnTo>
                  <a:pt x="615675" y="955276"/>
                </a:lnTo>
                <a:cubicBezTo>
                  <a:pt x="462393" y="847135"/>
                  <a:pt x="280468" y="776880"/>
                  <a:pt x="83525" y="758134"/>
                </a:cubicBezTo>
                <a:lnTo>
                  <a:pt x="0" y="7541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5000">
                <a:srgbClr val="FFC000">
                  <a:lumMod val="70000"/>
                  <a:lumOff val="30000"/>
                </a:srgbClr>
              </a:gs>
              <a:gs pos="0">
                <a:srgbClr val="FFC000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8" name="椭圆 57"/>
          <p:cNvSpPr/>
          <p:nvPr>
            <p:custDataLst>
              <p:tags r:id="rId6"/>
            </p:custDataLst>
          </p:nvPr>
        </p:nvSpPr>
        <p:spPr>
          <a:xfrm>
            <a:off x="6726238" y="3092133"/>
            <a:ext cx="877570" cy="877570"/>
          </a:xfrm>
          <a:prstGeom prst="ellipse">
            <a:avLst/>
          </a:prstGeom>
          <a:gradFill>
            <a:gsLst>
              <a:gs pos="50000">
                <a:srgbClr val="FFC000"/>
              </a:gs>
              <a:gs pos="0">
                <a:srgbClr val="FFC000">
                  <a:lumMod val="40000"/>
                  <a:lumOff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成本</a:t>
            </a:r>
            <a:endParaRPr lang="zh-CN" altLang="en-US" sz="16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0" name="任意多边形: 形状 76"/>
          <p:cNvSpPr/>
          <p:nvPr>
            <p:custDataLst>
              <p:tags r:id="rId7"/>
            </p:custDataLst>
          </p:nvPr>
        </p:nvSpPr>
        <p:spPr>
          <a:xfrm>
            <a:off x="7225348" y="4081463"/>
            <a:ext cx="1339850" cy="1605915"/>
          </a:xfrm>
          <a:custGeom>
            <a:avLst/>
            <a:gdLst>
              <a:gd name="connsiteX0" fmla="*/ 534034 w 1062218"/>
              <a:gd name="connsiteY0" fmla="*/ 0 h 1272934"/>
              <a:gd name="connsiteX1" fmla="*/ 620622 w 1062218"/>
              <a:gd name="connsiteY1" fmla="*/ 93608 h 1272934"/>
              <a:gd name="connsiteX2" fmla="*/ 705863 w 1062218"/>
              <a:gd name="connsiteY2" fmla="*/ 201702 h 1272934"/>
              <a:gd name="connsiteX3" fmla="*/ 725983 w 1062218"/>
              <a:gd name="connsiteY3" fmla="*/ 231493 h 1272934"/>
              <a:gd name="connsiteX4" fmla="*/ 677176 w 1062218"/>
              <a:gd name="connsiteY4" fmla="*/ 271762 h 1272934"/>
              <a:gd name="connsiteX5" fmla="*/ 558566 w 1062218"/>
              <a:gd name="connsiteY5" fmla="*/ 558112 h 1272934"/>
              <a:gd name="connsiteX6" fmla="*/ 963526 w 1062218"/>
              <a:gd name="connsiteY6" fmla="*/ 963072 h 1272934"/>
              <a:gd name="connsiteX7" fmla="*/ 1031607 w 1062218"/>
              <a:gd name="connsiteY7" fmla="*/ 956209 h 1272934"/>
              <a:gd name="connsiteX8" fmla="*/ 1033836 w 1062218"/>
              <a:gd name="connsiteY8" fmla="*/ 966313 h 1272934"/>
              <a:gd name="connsiteX9" fmla="*/ 1053944 w 1062218"/>
              <a:gd name="connsiteY9" fmla="*/ 1109114 h 1272934"/>
              <a:gd name="connsiteX10" fmla="*/ 1062218 w 1062218"/>
              <a:gd name="connsiteY10" fmla="*/ 1272934 h 1272934"/>
              <a:gd name="connsiteX11" fmla="*/ 308039 w 1062218"/>
              <a:gd name="connsiteY11" fmla="*/ 1272934 h 1272934"/>
              <a:gd name="connsiteX12" fmla="*/ 303660 w 1062218"/>
              <a:gd name="connsiteY12" fmla="*/ 1186224 h 1272934"/>
              <a:gd name="connsiteX13" fmla="*/ 103346 w 1062218"/>
              <a:gd name="connsiteY13" fmla="*/ 655633 h 1272934"/>
              <a:gd name="connsiteX14" fmla="*/ 0 w 1062218"/>
              <a:gd name="connsiteY14" fmla="*/ 534036 h 1272934"/>
              <a:gd name="connsiteX15" fmla="*/ 534034 w 1062218"/>
              <a:gd name="connsiteY15" fmla="*/ 0 h 1272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218" h="1272934">
                <a:moveTo>
                  <a:pt x="534034" y="0"/>
                </a:moveTo>
                <a:lnTo>
                  <a:pt x="620622" y="93608"/>
                </a:lnTo>
                <a:cubicBezTo>
                  <a:pt x="650326" y="128552"/>
                  <a:pt x="678764" y="164608"/>
                  <a:pt x="705863" y="201702"/>
                </a:cubicBezTo>
                <a:lnTo>
                  <a:pt x="725983" y="231493"/>
                </a:lnTo>
                <a:lnTo>
                  <a:pt x="677176" y="271762"/>
                </a:lnTo>
                <a:cubicBezTo>
                  <a:pt x="603893" y="345046"/>
                  <a:pt x="558566" y="446286"/>
                  <a:pt x="558566" y="558112"/>
                </a:cubicBezTo>
                <a:cubicBezTo>
                  <a:pt x="558566" y="781765"/>
                  <a:pt x="739873" y="963072"/>
                  <a:pt x="963526" y="963072"/>
                </a:cubicBezTo>
                <a:lnTo>
                  <a:pt x="1031607" y="956209"/>
                </a:lnTo>
                <a:lnTo>
                  <a:pt x="1033836" y="966313"/>
                </a:lnTo>
                <a:cubicBezTo>
                  <a:pt x="1042326" y="1013324"/>
                  <a:pt x="1049053" y="1060948"/>
                  <a:pt x="1053944" y="1109114"/>
                </a:cubicBezTo>
                <a:lnTo>
                  <a:pt x="1062218" y="1272934"/>
                </a:lnTo>
                <a:lnTo>
                  <a:pt x="308039" y="1272934"/>
                </a:lnTo>
                <a:lnTo>
                  <a:pt x="303660" y="1186224"/>
                </a:lnTo>
                <a:cubicBezTo>
                  <a:pt x="283696" y="989639"/>
                  <a:pt x="212383" y="808235"/>
                  <a:pt x="103346" y="655633"/>
                </a:cubicBezTo>
                <a:lnTo>
                  <a:pt x="0" y="534036"/>
                </a:lnTo>
                <a:lnTo>
                  <a:pt x="534034" y="0"/>
                </a:lnTo>
                <a:close/>
              </a:path>
            </a:pathLst>
          </a:custGeom>
          <a:gradFill>
            <a:gsLst>
              <a:gs pos="85000">
                <a:srgbClr val="FF7429">
                  <a:lumMod val="70000"/>
                  <a:lumOff val="30000"/>
                </a:srgbClr>
              </a:gs>
              <a:gs pos="0">
                <a:srgbClr val="FF7429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1" name="椭圆 60"/>
          <p:cNvSpPr/>
          <p:nvPr>
            <p:custDataLst>
              <p:tags r:id="rId8"/>
            </p:custDataLst>
          </p:nvPr>
        </p:nvSpPr>
        <p:spPr>
          <a:xfrm>
            <a:off x="8001953" y="4342448"/>
            <a:ext cx="877570" cy="877570"/>
          </a:xfrm>
          <a:prstGeom prst="ellipse">
            <a:avLst/>
          </a:prstGeom>
          <a:gradFill>
            <a:gsLst>
              <a:gs pos="44000">
                <a:srgbClr val="FF7429"/>
              </a:gs>
              <a:gs pos="0">
                <a:srgbClr val="FF7429">
                  <a:lumMod val="40000"/>
                  <a:lumOff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安全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3741420" y="2238375"/>
            <a:ext cx="1663065" cy="7899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2589213" y="1568133"/>
            <a:ext cx="2827655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r">
              <a:buClrTx/>
              <a:buSzTx/>
              <a:buFontTx/>
            </a:pPr>
            <a:r>
              <a:rPr lang="zh-CN" altLang="en-US" b="1">
                <a:solidFill>
                  <a:srgbClr val="17D594"/>
                </a:solidFill>
                <a:sym typeface="+mn-ea"/>
              </a:rPr>
              <a:t>人员效率</a:t>
            </a:r>
            <a:endParaRPr lang="zh-CN" altLang="en-US" b="1">
              <a:solidFill>
                <a:srgbClr val="17D594"/>
              </a:solidFill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466408" y="4056063"/>
            <a:ext cx="3018790" cy="7899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</a:rPr>
              <a:t>心</a:t>
            </a: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657543" y="3395663"/>
            <a:ext cx="2827655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r">
              <a:buClrTx/>
              <a:buSzTx/>
              <a:buFontTx/>
            </a:pPr>
            <a:r>
              <a:rPr lang="zh-CN" altLang="en-US" b="1">
                <a:solidFill>
                  <a:srgbClr val="376FFF"/>
                </a:solidFill>
                <a:sym typeface="+mn-ea"/>
              </a:rPr>
              <a:t>出品质量</a:t>
            </a:r>
            <a:endParaRPr lang="zh-CN" altLang="en-US" b="1">
              <a:solidFill>
                <a:srgbClr val="376FFF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6877368" y="1575118"/>
            <a:ext cx="2827656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C000"/>
                </a:solidFill>
                <a:sym typeface="+mn-ea"/>
              </a:rPr>
              <a:t>成本控制</a:t>
            </a:r>
            <a:endParaRPr lang="zh-CN" altLang="en-US" b="1">
              <a:solidFill>
                <a:srgbClr val="FFC000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8802053" y="3395663"/>
            <a:ext cx="2827655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7429"/>
                </a:solidFill>
                <a:sym typeface="+mn-ea"/>
              </a:rPr>
              <a:t>安全卫生</a:t>
            </a:r>
            <a:endParaRPr lang="en-US" altLang="zh-CN" b="1">
              <a:solidFill>
                <a:srgbClr val="FF7429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后厨领班应具备的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大能力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ECB019B1-382A-4266-B25C-5B523AA43C14-1" descr="C:/Users/JMF-LDY/AppData/Local/Temp/wpp.fBUhumwpp"/>
          <p:cNvPicPr>
            <a:picLocks noChangeAspect="1"/>
          </p:cNvPicPr>
          <p:nvPr/>
        </p:nvPicPr>
        <p:blipFill>
          <a:blip r:embed="rId1"/>
          <a:srcRect r="18009"/>
          <a:stretch>
            <a:fillRect/>
          </a:stretch>
        </p:blipFill>
        <p:spPr>
          <a:xfrm>
            <a:off x="888365" y="1893888"/>
            <a:ext cx="10377805" cy="3070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999990" y="2830195"/>
            <a:ext cx="2191385" cy="1045210"/>
          </a:xfrm>
          <a:prstGeom prst="rect">
            <a:avLst/>
          </a:prstGeom>
          <a:noFill/>
        </p:spPr>
        <p:txBody>
          <a:bodyPr wrap="square" lIns="121920" tIns="60960" rIns="121920" bIns="60960" anchor="ctr">
            <a:spAutoFit/>
          </a:bodyPr>
          <a:lstStyle/>
          <a:p>
            <a:r>
              <a:rPr lang="zh-CN" altLang="en-US" sz="60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   </a:t>
            </a:r>
            <a:endParaRPr lang="en-US" altLang="zh-CN" sz="20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55" y="257175"/>
            <a:ext cx="1506220" cy="118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i*1_2_4_2"/>
  <p:tag name="KSO_WM_TEMPLATE_CATEGORY" val="diagram"/>
  <p:tag name="KSO_WM_TEMPLATE_INDEX" val="20231090"/>
  <p:tag name="KSO_WM_UNIT_LAYERLEVEL" val="1_1_1_1"/>
  <p:tag name="KSO_WM_TAG_VERSION" val="3.0"/>
  <p:tag name="KSO_WM_UNIT_TYPE" val="n_h_h_i"/>
  <p:tag name="KSO_WM_UNIT_INDEX" val="1_2_4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6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6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0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3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3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5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5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9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9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1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2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2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6_1"/>
  <p:tag name="KSO_WM_UNIT_ID" val="diagram20231090_4*n_h_h_f*1_2_6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内容，简明扼要地阐述您的观点。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6_1"/>
  <p:tag name="KSO_WM_UNIT_ID" val="diagram20231090_4*n_h_h_a*1_2_6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1090_4*n_h_h_f*1_2_2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内容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1090_4*n_h_h_a*1_2_2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1090_4*n_h_h_f*1_2_4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1090_4*n_h_h_a*1_2_4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5_1"/>
  <p:tag name="KSO_WM_UNIT_ID" val="diagram20231090_4*n_h_h_f*1_2_5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5_1"/>
  <p:tag name="KSO_WM_UNIT_ID" val="diagram20231090_4*n_h_h_a*1_2_5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1090_4*n_h_h_f*1_2_1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1090_4*n_h_h_a*1_2_1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20000000298023224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1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1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5,&quot;colorType&quot;:1,&quot;foreColorIndex&quot;:5,&quot;pos&quot;:0,&quot;transparency&quot;:0},{&quot;brightness&quot;: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5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5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,&quot;colorType&quot;:1,&quot;foreColorIndex&quot;:9,&quot;pos&quot;:1,&quot;transparency&quot;:0},{&quot;brightness&quot;:0.15000000596046448,&quot;colorType&quot;:1,&quot;foreColorIndex&quot;:9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1090_4*n_h_h_f*1_2_3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内容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1090_4*n_h_h_a*1_2_3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3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3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,&quot;colorType&quot;:1,&quot;foreColorIndex&quot;:10,&quot;pos&quot;:1,&quot;transparency&quot;:0},{&quot;brightness&quot;:0.15000000596046448,&quot;colorType&quot;:1,&quot;foreColorIndex&quot;:10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6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6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10,&quot;pos&quot;:1,&quot;transparency&quot;:0},{&quot;brightness&quot;:0,&quot;colorType&quot;:1,&quot;foreColorIndex&quot;:10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5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5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9,&quot;pos&quot;:1,&quot;transparency&quot;:0},{&quot;brightness&quot;:0,&quot;colorType&quot;:1,&quot;foreColorIndex&quot;:9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4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4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8,&quot;pos&quot;:1,&quot;transparency&quot;:0},{&quot;brightness&quot;:0,&quot;colorType&quot;:1,&quot;foreColorIndex&quot;:8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3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3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,&quot;colorType&quot;:1,&quot;foreColorIndex&quot;:7,&quot;pos&quot;:0,&quot;transparency&quot;:0},{&quot;brightness&quot;:0.20000000298023224,&quot;colorType&quot;:1,&quot;foreColorIndex&quot;:7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2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2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6,&quot;pos&quot;:1,&quot;transparency&quot;:0},{&quot;brightness&quot;:0,&quot;colorType&quot;:1,&quot;foreColorIndex&quot;:6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1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1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5,&quot;pos&quot;:1,&quot;transparency&quot;:0},{&quot;brightness&quot;:0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a*1_1_1"/>
  <p:tag name="KSO_WM_TEMPLATE_CATEGORY" val="diagram"/>
  <p:tag name="KSO_WM_TEMPLATE_INDEX" val="20231090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TEXT_TYPE" val="1"/>
  <p:tag name="KSO_WM_UNIT_PRESET_TEXT" val="单击此处&#10;添加标题"/>
  <p:tag name="KSO_WM_DIAGRAM_USE_COLOR_VALUE" val="{&quot;color_scheme&quot;:1,&quot;color_type&quot;:1,&quot;theme_color_indexes&quot;:[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2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2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15000000596046448,&quot;colorType&quot;:1,&quot;foreColorIndex&quot;:6,&quot;pos&quot;:1,&quot;transparency&quot;:0},{&quot;brightness&quot;:0.25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3_1"/>
  <p:tag name="KSO_WM_TEMPLATE_CATEGORY" val="diagram"/>
  <p:tag name="KSO_WM_TEMPLATE_INDEX" val="20231090"/>
  <p:tag name="KSO_WM_UNIT_LAYERLEVEL" val="1_1_1_1"/>
  <p:tag name="KSO_WM_TAG_VERSION" val="3.0"/>
  <p:tag name="KSO_WM_UNIT_VALUE" val="77*77"/>
  <p:tag name="KSO_WM_UNIT_TYPE" val="n_h_h_x"/>
  <p:tag name="KSO_WM_UNIT_INDEX" val="1_2_3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6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6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15000000596046448,&quot;colorType&quot;:1,&quot;foreColorIndex&quot;:8,&quot;pos&quot;:1,&quot;transparency&quot;:0},{&quot;brightness&quot;:0.25,&quot;colorType&quot;:1,&quot;foreColorIndex&quot;:8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2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73*65"/>
  <p:tag name="KSO_WM_UNIT_TYPE" val="n_h_h_x"/>
  <p:tag name="KSO_WM_UNIT_INDEX" val="1_2_2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4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4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15000000596046448,&quot;colorType&quot;:1,&quot;foreColorIndex&quot;:7,&quot;pos&quot;:1,&quot;transparency&quot;:0},{&quot;brightness&quot;:0.25,&quot;colorType&quot;:1,&quot;foreColorIndex&quot;:7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4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73*60"/>
  <p:tag name="KSO_WM_UNIT_TYPE" val="n_h_h_x"/>
  <p:tag name="KSO_WM_UNIT_INDEX" val="1_2_4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1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80*68"/>
  <p:tag name="KSO_WM_UNIT_TYPE" val="n_h_h_x"/>
  <p:tag name="KSO_WM_UNIT_INDEX" val="1_2_1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5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69*69"/>
  <p:tag name="KSO_WM_UNIT_TYPE" val="n_h_h_x"/>
  <p:tag name="KSO_WM_UNIT_INDEX" val="1_2_5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6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72*61"/>
  <p:tag name="KSO_WM_UNIT_TYPE" val="n_h_h_x"/>
  <p:tag name="KSO_WM_UNIT_INDEX" val="1_2_6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8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2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2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6,&quot;pos&quot;:0.8500000238418579,&quot;transparency&quot;:0},{&quot;brightness&quot;:0.699999988079071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9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1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1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5,&quot;pos&quot;:0.8500000238418579,&quot;transparency&quot;:0},{&quot;brightness&quot;:0.699999988079071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0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2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2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6,&quot;pos&quot;:0.4399999976158142,&quot;transparency&quot;:0},{&quot;brightness&quot;:0.6000000238418579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1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1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1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2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3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3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7,&quot;pos&quot;:0.8500000238418579,&quot;transparency&quot;:0},{&quot;brightness&quot;:0.699999988079071,&quot;colorType&quot;:1,&quot;foreColorIndex&quot;:7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3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3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3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7,&quot;pos&quot;:0.5,&quot;transparency&quot;:0},{&quot;brightness&quot;:0.6000000238418579,&quot;colorType&quot;:1,&quot;foreColorIndex&quot;:7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4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4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4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8,&quot;pos&quot;:0.8500000238418579,&quot;transparency&quot;:0},{&quot;brightness&quot;:0.699999988079071,&quot;colorType&quot;:1,&quot;foreColorIndex&quot;:8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5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4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4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8,&quot;pos&quot;:0.4399999976158142,&quot;transparency&quot;:0},{&quot;brightness&quot;:0.6000000238418579,&quot;colorType&quot;:1,&quot;foreColorIndex&quot;:8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019_1*l_h_f*1_2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智能图形项正文具体文本内容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19_1*l_h_a*1_2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019_1*l_h_f*1_1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智能图形项正文&#10;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19_1*l_h_a*1_1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19_1*l_h_a*1_3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019_1*l_h_a*1_4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3.xml><?xml version="1.0" encoding="utf-8"?>
<p:tagLst xmlns:p="http://schemas.openxmlformats.org/presentationml/2006/main">
  <p:tag name="commondata" val="eyJoZGlkIjoiZjFmZWIzNDg2MmIzZjExOTIzMmViNTBmYTMwYTk0ZWYifQ=="/>
  <p:tag name="resource_record_key" val="{&quot;10&quot;:[21577555,21538598,21584409,21584402],&quot;70&quot;:[3332425,3321882,3319206,3314296,3314052]}"/>
</p:tagLst>
</file>

<file path=ppt/theme/theme1.xml><?xml version="1.0" encoding="utf-8"?>
<a:theme xmlns:a="http://schemas.openxmlformats.org/drawingml/2006/main" name="聚满分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奈雪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奈雪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zk4NTE1MTI3NDEzIiwKCSJHcm91cElkIiA6ICIyNDcxMDgyOTciLAoJIkltYWdlIiA6ICIiLAoJIlRoZW1lIiA6ICIiLAoJIlR5cGUiIDogImZsb3ciLAoJIlVzZXJJZCIgOiAiIiwKCSJWZXJzaW9uIiA6ICIiCn0K"/>
    </extobj>
  </extobjs>
</s:customData>
</file>

<file path=customXml/itemProps5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聚满分</Template>
  <TotalTime>0</TotalTime>
  <Words>436</Words>
  <Application>WPS 演示</Application>
  <PresentationFormat>宽屏</PresentationFormat>
  <Paragraphs>70</Paragraphs>
  <Slides>7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黑体</vt:lpstr>
      <vt:lpstr>Arial</vt:lpstr>
      <vt:lpstr>Wingdings</vt:lpstr>
      <vt:lpstr>Arial Unicode MS</vt:lpstr>
      <vt:lpstr>聚满分</vt:lpstr>
      <vt:lpstr>腾讯文档 默认主题​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Nocompany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daisichao521@outlook.com</dc:creator>
  <cp:lastModifiedBy>晓腾</cp:lastModifiedBy>
  <cp:revision>2169</cp:revision>
  <dcterms:created xsi:type="dcterms:W3CDTF">2017-04-10T02:24:00Z</dcterms:created>
  <dcterms:modified xsi:type="dcterms:W3CDTF">2026-04-30T16:09:45Z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593A60E8C18D4CEEB0F0E56D4F0A15B7_13</vt:lpwstr>
  </property>
  <property fmtid="{D5CDD505-2E9C-101B-9397-08002B2CF9AE}" pid="3" name="KSOProductBuildVer">
    <vt:lpwstr>2052-12.1.0.25865</vt:lpwstr>
  </property>
</Properties>
</file>