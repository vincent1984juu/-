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1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9" r:id="rId3"/>
  </p:sldMasterIdLst>
  <p:notesMasterIdLst>
    <p:notesMasterId r:id="rId5"/>
  </p:notesMasterIdLst>
  <p:sldIdLst>
    <p:sldId id="5839" r:id="rId4"/>
    <p:sldId id="5931" r:id="rId6"/>
    <p:sldId id="5868" r:id="rId7"/>
    <p:sldId id="5946" r:id="rId8"/>
    <p:sldId id="5869" r:id="rId9"/>
    <p:sldId id="5948" r:id="rId10"/>
    <p:sldId id="5952" r:id="rId11"/>
    <p:sldId id="5956" r:id="rId12"/>
    <p:sldId id="5960" r:id="rId13"/>
    <p:sldId id="5953" r:id="rId14"/>
    <p:sldId id="5955" r:id="rId15"/>
    <p:sldId id="5745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1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朱 伟敏" initials="朱" lastIdx="1" clrIdx="0"/>
  <p:cmAuthor id="0" name="Microsoft" initials="M" lastIdx="4" clrIdx="0"/>
  <p:cmAuthor id="2" name="黄 朝晔" initials="黄" lastIdx="2" clrIdx="1"/>
  <p:cmAuthor id="3" name="zhangjin jin" initials="zj" lastIdx="1" clrIdx="2"/>
  <p:cmAuthor id="5" name="哥" initials="哥" lastIdx="1" clrIdx="4"/>
  <p:cmAuthor id="4" name="易 浪柯" initials="易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41"/>
    <a:srgbClr val="FF7196"/>
    <a:srgbClr val="194993"/>
    <a:srgbClr val="F38514"/>
    <a:srgbClr val="9BBB59"/>
    <a:srgbClr val="F86317"/>
    <a:srgbClr val="5A1818"/>
    <a:srgbClr val="C00000"/>
    <a:srgbClr val="8064A2"/>
    <a:srgbClr val="FBA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1C2AE3-6401-41AF-9A4E-065CF06627EB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4"/>
              </a:solidFill>
            </a:ln>
          </a:left>
          <a:right>
            <a:ln w="9525" cmpd="sng">
              <a:solidFill>
                <a:schemeClr val="accent4"/>
              </a:solidFill>
            </a:ln>
          </a:right>
          <a:top>
            <a:ln w="9525" cmpd="sng">
              <a:solidFill>
                <a:schemeClr val="accent4"/>
              </a:solidFill>
            </a:ln>
          </a:top>
          <a:bottom>
            <a:ln w="9525" cmpd="sng">
              <a:solidFill>
                <a:schemeClr val="accent4"/>
              </a:solidFill>
            </a:ln>
          </a:bottom>
          <a:insideH>
            <a:ln w="9525" cmpd="sng">
              <a:solidFill>
                <a:schemeClr val="accent4">
                  <a:lumMod val="40000"/>
                  <a:lumOff val="60000"/>
                </a:schemeClr>
              </a:solidFill>
            </a:ln>
          </a:insideH>
          <a:insideV>
            <a:ln w="9525" cmpd="sng">
              <a:solidFill>
                <a:schemeClr val="accent4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4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accent4">
              <a:alpha val="25000"/>
              <a:lumMod val="40000"/>
              <a:lumOff val="60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4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4"/>
              </a:solidFill>
            </a:ln>
          </a:right>
          <a:top>
            <a:ln w="9525" cmpd="sng">
              <a:solidFill>
                <a:schemeClr val="accent4"/>
              </a:solidFill>
            </a:ln>
          </a:top>
          <a:bottom>
            <a:ln w="9525" cmpd="sng">
              <a:solidFill>
                <a:schemeClr val="accent4"/>
              </a:solidFill>
            </a:ln>
          </a:bottom>
          <a:insideH>
            <a:ln w="9525" cmpd="sng">
              <a:solidFill>
                <a:schemeClr val="accent4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4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4"/>
              </a:solidFill>
            </a:ln>
          </a:left>
          <a:right>
            <a:ln w="9525" cmpd="sng">
              <a:solidFill>
                <a:schemeClr val="accent4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4"/>
              </a:solidFill>
            </a:ln>
          </a:top>
          <a:bottom>
            <a:ln w="9525" cmpd="sng">
              <a:solidFill>
                <a:schemeClr val="accent4"/>
              </a:solidFill>
            </a:ln>
          </a:bottom>
          <a:insideH>
            <a:ln w="9525" cmpd="sng">
              <a:solidFill>
                <a:schemeClr val="accent4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4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4"/>
        </a:fontRef>
      </a:tcTxStyle>
      <a:tcStyle>
        <a:tcBdr>
          <a:left>
            <a:ln w="9525" cmpd="sng">
              <a:solidFill>
                <a:schemeClr val="accent4"/>
              </a:solidFill>
            </a:ln>
          </a:left>
          <a:right>
            <a:ln w="9525" cmpd="sng">
              <a:solidFill>
                <a:schemeClr val="accent4"/>
              </a:solidFill>
            </a:ln>
          </a:right>
          <a:top>
            <a:ln w="9525" cmpd="sng">
              <a:solidFill>
                <a:schemeClr val="accent4"/>
              </a:solidFill>
            </a:ln>
          </a:top>
          <a:bottom>
            <a:ln w="9525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4"/>
              </a:solidFill>
            </a:ln>
          </a:left>
          <a:right>
            <a:ln w="9525" cmpd="sng">
              <a:solidFill>
                <a:schemeClr val="accent4"/>
              </a:solidFill>
            </a:ln>
          </a:right>
          <a:top>
            <a:ln w="9525" cmpd="sng">
              <a:solidFill>
                <a:schemeClr val="accent4"/>
              </a:solidFill>
            </a:ln>
          </a:top>
          <a:bottom>
            <a:ln w="9525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4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2" autoAdjust="0"/>
    <p:restoredTop sz="90181" autoAdjust="0"/>
  </p:normalViewPr>
  <p:slideViewPr>
    <p:cSldViewPr snapToGrid="0" showGuides="1">
      <p:cViewPr varScale="1">
        <p:scale>
          <a:sx n="75" d="100"/>
          <a:sy n="75" d="100"/>
        </p:scale>
        <p:origin x="955" y="58"/>
      </p:cViewPr>
      <p:guideLst>
        <p:guide orient="horz" pos="2021"/>
        <p:guide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20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43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24926-5633-D043-A348-13C0AAA1763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6096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12192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8288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24384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6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24926-5633-D043-A348-13C0AAA1763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页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/>
          <p:cNvSpPr>
            <a:spLocks noGrp="1"/>
          </p:cNvSpPr>
          <p:nvPr>
            <p:ph type="sldNum" sz="quarter" idx="7"/>
          </p:nvPr>
        </p:nvSpPr>
        <p:spPr>
          <a:xfrm>
            <a:off x="11785600" y="6607768"/>
            <a:ext cx="406400" cy="24622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6F15528-21DE-4FAA-801E-634DDDAF4B2B}" type="slidenum">
              <a:rPr lang="en-US" altLang="zh-CN" smtClean="0"/>
            </a:fld>
            <a:endParaRPr lang="en-US" altLang="zh-CN"/>
          </a:p>
        </p:txBody>
      </p:sp>
      <p:sp>
        <p:nvSpPr>
          <p:cNvPr id="2" name="bk object 16"/>
          <p:cNvSpPr/>
          <p:nvPr/>
        </p:nvSpPr>
        <p:spPr>
          <a:xfrm>
            <a:off x="0" y="0"/>
            <a:ext cx="12192000" cy="670560"/>
          </a:xfrm>
          <a:custGeom>
            <a:avLst/>
            <a:gdLst/>
            <a:ahLst/>
            <a:cxnLst/>
            <a:rect l="l" t="t" r="r" b="b"/>
            <a:pathLst>
              <a:path w="9144000" h="502920">
                <a:moveTo>
                  <a:pt x="0" y="0"/>
                </a:moveTo>
                <a:lnTo>
                  <a:pt x="0" y="502920"/>
                </a:lnTo>
                <a:lnTo>
                  <a:pt x="9143999" y="50292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19499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bk object 19"/>
          <p:cNvSpPr/>
          <p:nvPr/>
        </p:nvSpPr>
        <p:spPr>
          <a:xfrm>
            <a:off x="614472" y="345381"/>
            <a:ext cx="35560" cy="0"/>
          </a:xfrm>
          <a:custGeom>
            <a:avLst/>
            <a:gdLst/>
            <a:ahLst/>
            <a:cxnLst/>
            <a:rect l="l" t="t" r="r" b="b"/>
            <a:pathLst>
              <a:path w="26670">
                <a:moveTo>
                  <a:pt x="0" y="0"/>
                </a:moveTo>
                <a:lnTo>
                  <a:pt x="26074" y="0"/>
                </a:lnTo>
              </a:path>
            </a:pathLst>
          </a:custGeom>
          <a:ln w="3931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4" name="bk object 20"/>
          <p:cNvSpPr/>
          <p:nvPr/>
        </p:nvSpPr>
        <p:spPr>
          <a:xfrm>
            <a:off x="498576" y="345381"/>
            <a:ext cx="35560" cy="0"/>
          </a:xfrm>
          <a:custGeom>
            <a:avLst/>
            <a:gdLst/>
            <a:ahLst/>
            <a:cxnLst/>
            <a:rect l="l" t="t" r="r" b="b"/>
            <a:pathLst>
              <a:path w="26670">
                <a:moveTo>
                  <a:pt x="0" y="0"/>
                </a:moveTo>
                <a:lnTo>
                  <a:pt x="26074" y="0"/>
                </a:lnTo>
              </a:path>
            </a:pathLst>
          </a:custGeom>
          <a:ln w="3931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5" name="bk object 21"/>
          <p:cNvSpPr/>
          <p:nvPr/>
        </p:nvSpPr>
        <p:spPr>
          <a:xfrm>
            <a:off x="150923" y="345381"/>
            <a:ext cx="35560" cy="0"/>
          </a:xfrm>
          <a:custGeom>
            <a:avLst/>
            <a:gdLst/>
            <a:ahLst/>
            <a:cxnLst/>
            <a:rect l="l" t="t" r="r" b="b"/>
            <a:pathLst>
              <a:path w="26669">
                <a:moveTo>
                  <a:pt x="0" y="0"/>
                </a:moveTo>
                <a:lnTo>
                  <a:pt x="26074" y="0"/>
                </a:lnTo>
              </a:path>
            </a:pathLst>
          </a:custGeom>
          <a:ln w="3931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6" name="bk object 22"/>
          <p:cNvSpPr/>
          <p:nvPr/>
        </p:nvSpPr>
        <p:spPr>
          <a:xfrm>
            <a:off x="573903" y="293245"/>
            <a:ext cx="0" cy="105833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0"/>
                </a:moveTo>
                <a:lnTo>
                  <a:pt x="0" y="79051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8" name="bk object 23"/>
          <p:cNvSpPr/>
          <p:nvPr/>
        </p:nvSpPr>
        <p:spPr>
          <a:xfrm>
            <a:off x="458017" y="293245"/>
            <a:ext cx="0" cy="105833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0"/>
                </a:moveTo>
                <a:lnTo>
                  <a:pt x="0" y="79051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9" name="bk object 24"/>
          <p:cNvSpPr/>
          <p:nvPr/>
        </p:nvSpPr>
        <p:spPr>
          <a:xfrm>
            <a:off x="226247" y="293245"/>
            <a:ext cx="0" cy="105833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0"/>
                </a:moveTo>
                <a:lnTo>
                  <a:pt x="0" y="79051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0" name="bk object 25"/>
          <p:cNvSpPr/>
          <p:nvPr/>
        </p:nvSpPr>
        <p:spPr>
          <a:xfrm>
            <a:off x="400075" y="266753"/>
            <a:ext cx="0" cy="158327"/>
          </a:xfrm>
          <a:custGeom>
            <a:avLst/>
            <a:gdLst/>
            <a:ahLst/>
            <a:cxnLst/>
            <a:rect l="l" t="t" r="r" b="b"/>
            <a:pathLst>
              <a:path h="118745">
                <a:moveTo>
                  <a:pt x="0" y="0"/>
                </a:moveTo>
                <a:lnTo>
                  <a:pt x="0" y="118366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1" name="bk object 26"/>
          <p:cNvSpPr/>
          <p:nvPr/>
        </p:nvSpPr>
        <p:spPr>
          <a:xfrm>
            <a:off x="284189" y="240262"/>
            <a:ext cx="0" cy="210820"/>
          </a:xfrm>
          <a:custGeom>
            <a:avLst/>
            <a:gdLst/>
            <a:ahLst/>
            <a:cxnLst/>
            <a:rect l="l" t="t" r="r" b="b"/>
            <a:pathLst>
              <a:path h="158115">
                <a:moveTo>
                  <a:pt x="0" y="0"/>
                </a:moveTo>
                <a:lnTo>
                  <a:pt x="0" y="157680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2" name="bk object 27"/>
          <p:cNvSpPr/>
          <p:nvPr/>
        </p:nvSpPr>
        <p:spPr>
          <a:xfrm>
            <a:off x="342132" y="187842"/>
            <a:ext cx="0" cy="315805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732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014472" y="37888"/>
            <a:ext cx="6197600" cy="59478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48630" y="73670"/>
            <a:ext cx="31303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609600"/>
            <a:r>
              <a:rPr lang="en-US" altLang="zh-CN" sz="2800" b="1" spc="51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endParaRPr lang="zh-CN" altLang="en-US" sz="2800" b="1" spc="51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71" y="226026"/>
            <a:ext cx="581672" cy="562041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023367" y="226026"/>
            <a:ext cx="4911091" cy="56204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785600" y="6578600"/>
            <a:ext cx="406400" cy="279401"/>
          </a:xfrm>
          <a:prstGeom prst="rect">
            <a:avLst/>
          </a:prstGeom>
        </p:spPr>
        <p:txBody>
          <a:bodyPr anchor="ctr"/>
          <a:lstStyle>
            <a:lvl1pPr algn="ctr"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128593-9A93-4E6B-B6F7-3D0EA6CFA3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3"/>
          <p:cNvSpPr/>
          <p:nvPr/>
        </p:nvSpPr>
        <p:spPr>
          <a:xfrm>
            <a:off x="1" y="2568447"/>
            <a:ext cx="12192337" cy="1713653"/>
          </a:xfrm>
          <a:custGeom>
            <a:avLst/>
            <a:gdLst/>
            <a:ahLst/>
            <a:cxnLst/>
            <a:rect l="l" t="t" r="r" b="b"/>
            <a:pathLst>
              <a:path w="7740650" h="1285239">
                <a:moveTo>
                  <a:pt x="0" y="1284732"/>
                </a:moveTo>
                <a:lnTo>
                  <a:pt x="7740395" y="1284732"/>
                </a:lnTo>
                <a:lnTo>
                  <a:pt x="7740395" y="0"/>
                </a:lnTo>
                <a:lnTo>
                  <a:pt x="0" y="0"/>
                </a:lnTo>
                <a:lnTo>
                  <a:pt x="0" y="1284732"/>
                </a:lnTo>
                <a:close/>
              </a:path>
            </a:pathLst>
          </a:custGeom>
          <a:solidFill>
            <a:srgbClr val="19499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14"/>
          <p:cNvSpPr/>
          <p:nvPr/>
        </p:nvSpPr>
        <p:spPr>
          <a:xfrm>
            <a:off x="1602723" y="2862919"/>
            <a:ext cx="742527" cy="743373"/>
          </a:xfrm>
          <a:custGeom>
            <a:avLst/>
            <a:gdLst/>
            <a:ahLst/>
            <a:cxnLst/>
            <a:rect l="l" t="t" r="r" b="b"/>
            <a:pathLst>
              <a:path w="556894" h="557530">
                <a:moveTo>
                  <a:pt x="142760" y="0"/>
                </a:moveTo>
                <a:lnTo>
                  <a:pt x="0" y="142748"/>
                </a:lnTo>
                <a:lnTo>
                  <a:pt x="414159" y="557022"/>
                </a:lnTo>
                <a:lnTo>
                  <a:pt x="556907" y="414274"/>
                </a:lnTo>
                <a:lnTo>
                  <a:pt x="142760" y="0"/>
                </a:lnTo>
                <a:close/>
              </a:path>
            </a:pathLst>
          </a:custGeom>
          <a:solidFill>
            <a:srgbClr val="F5841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5"/>
          <p:cNvSpPr/>
          <p:nvPr/>
        </p:nvSpPr>
        <p:spPr>
          <a:xfrm>
            <a:off x="1602723" y="3226139"/>
            <a:ext cx="742527" cy="742527"/>
          </a:xfrm>
          <a:custGeom>
            <a:avLst/>
            <a:gdLst/>
            <a:ahLst/>
            <a:cxnLst/>
            <a:rect l="l" t="t" r="r" b="b"/>
            <a:pathLst>
              <a:path w="556894" h="556894">
                <a:moveTo>
                  <a:pt x="414159" y="0"/>
                </a:moveTo>
                <a:lnTo>
                  <a:pt x="0" y="414273"/>
                </a:lnTo>
                <a:lnTo>
                  <a:pt x="142760" y="556894"/>
                </a:lnTo>
                <a:lnTo>
                  <a:pt x="556907" y="142747"/>
                </a:lnTo>
                <a:lnTo>
                  <a:pt x="414159" y="0"/>
                </a:lnTo>
                <a:close/>
              </a:path>
            </a:pathLst>
          </a:custGeom>
          <a:solidFill>
            <a:srgbClr val="FFAC84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>
              <a:solidFill>
                <a:srgbClr val="F38514"/>
              </a:solidFill>
            </a:endParaRPr>
          </a:p>
        </p:txBody>
      </p:sp>
      <p:sp>
        <p:nvSpPr>
          <p:cNvPr id="11" name="object 16"/>
          <p:cNvSpPr/>
          <p:nvPr/>
        </p:nvSpPr>
        <p:spPr>
          <a:xfrm>
            <a:off x="1" y="2568447"/>
            <a:ext cx="1871980" cy="1713653"/>
          </a:xfrm>
          <a:custGeom>
            <a:avLst/>
            <a:gdLst/>
            <a:ahLst/>
            <a:cxnLst/>
            <a:rect l="l" t="t" r="r" b="b"/>
            <a:pathLst>
              <a:path w="1403985" h="1285239">
                <a:moveTo>
                  <a:pt x="0" y="1284732"/>
                </a:moveTo>
                <a:lnTo>
                  <a:pt x="1403604" y="1284732"/>
                </a:lnTo>
                <a:lnTo>
                  <a:pt x="1403604" y="0"/>
                </a:lnTo>
                <a:lnTo>
                  <a:pt x="0" y="0"/>
                </a:lnTo>
                <a:lnTo>
                  <a:pt x="0" y="1284732"/>
                </a:lnTo>
                <a:close/>
              </a:path>
            </a:pathLst>
          </a:custGeom>
          <a:solidFill>
            <a:srgbClr val="19499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7"/>
          <p:cNvSpPr txBox="1"/>
          <p:nvPr/>
        </p:nvSpPr>
        <p:spPr>
          <a:xfrm>
            <a:off x="621936" y="3733800"/>
            <a:ext cx="64346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100"/>
              </a:spcBef>
            </a:pPr>
            <a:r>
              <a:rPr sz="2000" b="1" spc="-7">
                <a:solidFill>
                  <a:srgbClr val="F38514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STEP</a:t>
            </a:r>
            <a:endParaRPr sz="2000">
              <a:solidFill>
                <a:srgbClr val="F38514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object 18"/>
          <p:cNvSpPr/>
          <p:nvPr/>
        </p:nvSpPr>
        <p:spPr>
          <a:xfrm>
            <a:off x="1871471" y="2590801"/>
            <a:ext cx="241807" cy="1690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2595001" y="2862919"/>
            <a:ext cx="8940800" cy="1104900"/>
          </a:xfrm>
          <a:prstGeom prst="rect">
            <a:avLst/>
          </a:prstGeom>
        </p:spPr>
        <p:txBody>
          <a:bodyPr anchor="ctr"/>
          <a:lstStyle>
            <a:lvl1pPr>
              <a:defRPr sz="4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1" hasCustomPrompt="1"/>
          </p:nvPr>
        </p:nvSpPr>
        <p:spPr>
          <a:xfrm>
            <a:off x="406824" y="2929184"/>
            <a:ext cx="1058333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ctr">
              <a:defRPr lang="zh-CN" altLang="en-US" sz="4400" b="1" kern="1200" spc="-7" smtClean="0">
                <a:solidFill>
                  <a:srgbClr val="F38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17145" lvl="0" algn="ctr" defTabSz="1219200" rtl="0" eaLnBrk="1" latinLnBrk="0" hangingPunct="1">
              <a:lnSpc>
                <a:spcPct val="100000"/>
              </a:lnSpc>
              <a:spcBef>
                <a:spcPts val="100"/>
              </a:spcBef>
            </a:pPr>
            <a:r>
              <a:rPr lang="zh-CN" altLang="en-US"/>
              <a:t>一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rgbClr val="1949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 userDrawn="1"/>
        </p:nvSpPr>
        <p:spPr>
          <a:xfrm>
            <a:off x="8519031" y="6434371"/>
            <a:ext cx="1146468" cy="2358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indent="0" algn="r" defTabSz="1219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35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门店运营管理手册</a:t>
            </a:r>
            <a:endParaRPr lang="en-US" altLang="zh-CN" sz="935" b="0" i="0" u="none" strike="noStrike" kern="120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椭圆 53"/>
          <p:cNvSpPr/>
          <p:nvPr userDrawn="1"/>
        </p:nvSpPr>
        <p:spPr>
          <a:xfrm>
            <a:off x="9767129" y="6425213"/>
            <a:ext cx="384137" cy="392513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1" tIns="60951" rIns="121901" bIns="60951" rtlCol="0" anchor="ctr"/>
          <a:lstStyle/>
          <a:p>
            <a:pPr algn="ctr"/>
            <a:endParaRPr lang="zh-CN" altLang="en-US" sz="3200" dirty="0"/>
          </a:p>
        </p:txBody>
      </p:sp>
      <p:sp>
        <p:nvSpPr>
          <p:cNvPr id="55" name="灯片编号占位符 5"/>
          <p:cNvSpPr txBox="1">
            <a:spLocks noChangeArrowheads="1"/>
          </p:cNvSpPr>
          <p:nvPr userDrawn="1"/>
        </p:nvSpPr>
        <p:spPr>
          <a:xfrm>
            <a:off x="9648474" y="6476819"/>
            <a:ext cx="619021" cy="44127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457200" rtl="0" eaLnBrk="1" latinLnBrk="0" hangingPunct="1">
              <a:defRPr sz="1100" b="0" kern="12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F634C5BF-DAC4-4F87-9DFA-648C47EE1DE1}" type="slidenum">
              <a:rPr lang="zh-CN" altLang="en-US" sz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8763643" y="6621017"/>
            <a:ext cx="91884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indent="0" algn="r" defTabSz="1219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好体验 </a:t>
            </a:r>
            <a:r>
              <a:rPr lang="en-US" altLang="zh-CN" sz="800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lang="zh-CN" altLang="en-US" sz="800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高效率 </a:t>
            </a:r>
            <a:endParaRPr lang="en-US" altLang="zh-CN" sz="800" b="0" i="0" u="none" strike="noStrike" kern="120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4978" y="6460283"/>
            <a:ext cx="792628" cy="3214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460" y="4184"/>
            <a:ext cx="12192000" cy="6853816"/>
          </a:xfrm>
          <a:prstGeom prst="rect">
            <a:avLst/>
          </a:prstGeom>
        </p:spPr>
      </p:pic>
      <p:sp>
        <p:nvSpPr>
          <p:cNvPr id="11" name="灯片编号占位符 3"/>
          <p:cNvSpPr txBox="1"/>
          <p:nvPr/>
        </p:nvSpPr>
        <p:spPr>
          <a:xfrm>
            <a:off x="11502756" y="5749964"/>
            <a:ext cx="632059" cy="3168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100" kern="1200">
                <a:solidFill>
                  <a:srgbClr val="574E4C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008000" y="360000"/>
            <a:ext cx="5400000" cy="648000"/>
          </a:xfrm>
          <a:prstGeom prst="rect">
            <a:avLst/>
          </a:prstGeom>
        </p:spPr>
        <p:txBody>
          <a:bodyPr tIns="36000" bIns="36000" anchor="ctr"/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日期占位符 1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52" name="页脚占位符 2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p>
            <a:endParaRPr lang="zh-CN"/>
          </a:p>
        </p:txBody>
      </p:sp>
      <p:sp>
        <p:nvSpPr>
          <p:cNvPr id="53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3199BA4-F8C4-48F6-BF3D-6D4BD834E81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F7DC6A6-BF1E-4CE5-B3E6-718B8EA0B82A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FC705DF-EB6A-4429-A9CF-8086C29D54D9}" type="slidenum">
              <a:rPr lang="zh-CN"/>
            </a:fld>
            <a:endParaRPr lang="zh-CN"/>
          </a:p>
        </p:txBody>
      </p:sp>
      <p:pic>
        <p:nvPicPr>
          <p:cNvPr id="10" name="图片 9" descr="13号晚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B03108F-6D01-401F-BB83-A4EE273EE035}" type="datetime1">
              <a:rPr lang="zh-CN" altLang="en-US"/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A18DFAB-279D-45FB-8988-01B47F34F95A}" type="slidenum">
              <a:rPr lang="zh-CN"/>
            </a:fld>
            <a:endParaRPr lang="zh-CN"/>
          </a:p>
        </p:txBody>
      </p:sp>
      <p:pic>
        <p:nvPicPr>
          <p:cNvPr id="4" name="图片 3" descr="资源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pic>
        <p:nvPicPr>
          <p:cNvPr id="1" name="图片 0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-266700" y="-1172845"/>
            <a:ext cx="1673860" cy="1670050"/>
          </a:xfrm>
          <a:prstGeom prst="rect">
            <a:avLst/>
          </a:prstGeom>
        </p:spPr>
      </p:pic>
      <p:pic>
        <p:nvPicPr>
          <p:cNvPr id="2" name="图片 1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502265" y="5179695"/>
            <a:ext cx="2697480" cy="2691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5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2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2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B94FA0-F740-4CDC-A935-5AEA919A98DA}" type="slidenum">
              <a:rPr lang="zh-CN"/>
            </a:fld>
            <a:endParaRPr lang="zh-CN"/>
          </a:p>
        </p:txBody>
      </p:sp>
      <p:pic>
        <p:nvPicPr>
          <p:cNvPr id="4" name="图片 3" descr="资源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pic>
        <p:nvPicPr>
          <p:cNvPr id="10" name="图片 9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-266700" y="-1172845"/>
            <a:ext cx="1673860" cy="1670050"/>
          </a:xfrm>
          <a:prstGeom prst="rect">
            <a:avLst/>
          </a:prstGeom>
        </p:spPr>
      </p:pic>
      <p:pic>
        <p:nvPicPr>
          <p:cNvPr id="7" name="图片 6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502265" y="5179695"/>
            <a:ext cx="2697480" cy="2691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1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2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3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A1F3BCCF-927F-4C14-9052-F5177C3C439D}" type="datetime1">
              <a:rPr lang="zh-CN" altLang="en-US"/>
            </a:fld>
            <a:endParaRPr lang="zh-CN"/>
          </a:p>
        </p:txBody>
      </p:sp>
      <p:sp>
        <p:nvSpPr>
          <p:cNvPr id="34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35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08259AF-2A25-452C-AA5F-7B080E8C5A7E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8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9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0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41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2" name="日期占位符 6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19FF268-CF0C-4595-A6A8-A0B1FC2FEB42}" type="datetime1">
              <a:rPr lang="zh-CN" altLang="en-US"/>
            </a:fld>
            <a:endParaRPr lang="zh-CN"/>
          </a:p>
        </p:txBody>
      </p:sp>
      <p:sp>
        <p:nvSpPr>
          <p:cNvPr id="43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4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3A90A56-B7DA-460C-8F46-95BFAF0AF95F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7" name="日期占位符 2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05E0E50-3259-4429-AAEB-7BA10F2285FC}" type="datetime1">
              <a:rPr lang="zh-CN" altLang="en-US"/>
            </a:fld>
            <a:endParaRPr lang="zh-CN"/>
          </a:p>
        </p:txBody>
      </p:sp>
      <p:sp>
        <p:nvSpPr>
          <p:cNvPr id="48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9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2178EC5-58A4-4F44-B83C-34BE3E218ABE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日期占位符 1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52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53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3199BA4-F8C4-48F6-BF3D-6D4BD834E81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6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57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8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BDD0B665-21F2-4210-A0AB-1FF516ABB0EC}" type="datetime1">
              <a:rPr lang="zh-CN" altLang="en-US"/>
            </a:fld>
            <a:endParaRPr lang="zh-CN"/>
          </a:p>
        </p:txBody>
      </p:sp>
      <p:sp>
        <p:nvSpPr>
          <p:cNvPr id="59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0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3120986-D9F8-450A-8E8A-7B53A97B66E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4E233BD8-DB7E-4E6E-9456-6D1E77C88269}" type="datetime1">
              <a:rPr lang="zh-CN" altLang="en-US"/>
            </a:fld>
            <a:endParaRPr lang="zh-CN"/>
          </a:p>
        </p:txBody>
      </p:sp>
      <p:sp>
        <p:nvSpPr>
          <p:cNvPr id="6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47CCC7F-E1A2-469B-A337-764C3DF0731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70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71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772B07E-4E44-4E95-89AF-F1EF6F4CC7EC}" type="datetime1">
              <a:rPr lang="zh-CN" altLang="en-US"/>
            </a:fld>
            <a:endParaRPr lang="zh-CN"/>
          </a:p>
        </p:txBody>
      </p:sp>
      <p:sp>
        <p:nvSpPr>
          <p:cNvPr id="72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73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D47AF7-089F-4725-8B45-DEA8A59F6C62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17AA1729-FFEC-4670-BE57-9BB1B6CF1583}" type="datetime1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7AACFD0-6D64-47CD-A483-D6FD45307366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/>
            </a:fld>
            <a:endParaRPr lang="en-US"/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/>
          <p:cNvSpPr>
            <a:spLocks noGrp="1"/>
          </p:cNvSpPr>
          <p:nvPr>
            <p:ph type="sldNum" sz="quarter" idx="4"/>
          </p:nvPr>
        </p:nvSpPr>
        <p:spPr>
          <a:xfrm>
            <a:off x="11785600" y="6611779"/>
            <a:ext cx="406400" cy="24622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6F15528-21DE-4FAA-801E-634DDDAF4B2B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609600" eaLnBrk="1" hangingPunct="1">
        <a:defRPr>
          <a:latin typeface="+mn-lt"/>
          <a:ea typeface="+mn-ea"/>
          <a:cs typeface="+mn-cs"/>
        </a:defRPr>
      </a:lvl2pPr>
      <a:lvl3pPr marL="1219200" eaLnBrk="1" hangingPunct="1">
        <a:defRPr>
          <a:latin typeface="+mn-lt"/>
          <a:ea typeface="+mn-ea"/>
          <a:cs typeface="+mn-cs"/>
        </a:defRPr>
      </a:lvl3pPr>
      <a:lvl4pPr marL="1828800" eaLnBrk="1" hangingPunct="1">
        <a:defRPr>
          <a:latin typeface="+mn-lt"/>
          <a:ea typeface="+mn-ea"/>
          <a:cs typeface="+mn-cs"/>
        </a:defRPr>
      </a:lvl4pPr>
      <a:lvl5pPr marL="2438400" eaLnBrk="1" hangingPunct="1">
        <a:defRPr>
          <a:latin typeface="+mn-lt"/>
          <a:ea typeface="+mn-ea"/>
          <a:cs typeface="+mn-cs"/>
        </a:defRPr>
      </a:lvl5pPr>
      <a:lvl6pPr marL="3048000" eaLnBrk="1" hangingPunct="1">
        <a:defRPr>
          <a:latin typeface="+mn-lt"/>
          <a:ea typeface="+mn-ea"/>
          <a:cs typeface="+mn-cs"/>
        </a:defRPr>
      </a:lvl6pPr>
      <a:lvl7pPr marL="3657600" eaLnBrk="1" hangingPunct="1">
        <a:defRPr>
          <a:latin typeface="+mn-lt"/>
          <a:ea typeface="+mn-ea"/>
          <a:cs typeface="+mn-cs"/>
        </a:defRPr>
      </a:lvl7pPr>
      <a:lvl8pPr marL="4267200" eaLnBrk="1" hangingPunct="1">
        <a:defRPr>
          <a:latin typeface="+mn-lt"/>
          <a:ea typeface="+mn-ea"/>
          <a:cs typeface="+mn-cs"/>
        </a:defRPr>
      </a:lvl8pPr>
      <a:lvl9pPr marL="48768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609600" eaLnBrk="1" hangingPunct="1">
        <a:defRPr>
          <a:latin typeface="+mn-lt"/>
          <a:ea typeface="+mn-ea"/>
          <a:cs typeface="+mn-cs"/>
        </a:defRPr>
      </a:lvl2pPr>
      <a:lvl3pPr marL="1219200" eaLnBrk="1" hangingPunct="1">
        <a:defRPr>
          <a:latin typeface="+mn-lt"/>
          <a:ea typeface="+mn-ea"/>
          <a:cs typeface="+mn-cs"/>
        </a:defRPr>
      </a:lvl3pPr>
      <a:lvl4pPr marL="1828800" eaLnBrk="1" hangingPunct="1">
        <a:defRPr>
          <a:latin typeface="+mn-lt"/>
          <a:ea typeface="+mn-ea"/>
          <a:cs typeface="+mn-cs"/>
        </a:defRPr>
      </a:lvl4pPr>
      <a:lvl5pPr marL="2438400" eaLnBrk="1" hangingPunct="1">
        <a:defRPr>
          <a:latin typeface="+mn-lt"/>
          <a:ea typeface="+mn-ea"/>
          <a:cs typeface="+mn-cs"/>
        </a:defRPr>
      </a:lvl5pPr>
      <a:lvl6pPr marL="3048000" eaLnBrk="1" hangingPunct="1">
        <a:defRPr>
          <a:latin typeface="+mn-lt"/>
          <a:ea typeface="+mn-ea"/>
          <a:cs typeface="+mn-cs"/>
        </a:defRPr>
      </a:lvl6pPr>
      <a:lvl7pPr marL="3657600" eaLnBrk="1" hangingPunct="1">
        <a:defRPr>
          <a:latin typeface="+mn-lt"/>
          <a:ea typeface="+mn-ea"/>
          <a:cs typeface="+mn-cs"/>
        </a:defRPr>
      </a:lvl7pPr>
      <a:lvl8pPr marL="4267200" eaLnBrk="1" hangingPunct="1">
        <a:defRPr>
          <a:latin typeface="+mn-lt"/>
          <a:ea typeface="+mn-ea"/>
          <a:cs typeface="+mn-cs"/>
        </a:defRPr>
      </a:lvl8pPr>
      <a:lvl9pPr marL="48768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lvl="0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17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7.xml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tags" Target="../tags/tag27.xml"/><Relationship Id="rId1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4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93700" y="1717675"/>
            <a:ext cx="1078992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 b="1" dirty="0">
                <a:ln w="0"/>
                <a:solidFill>
                  <a:srgbClr val="F385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新晋店长如何快速进入角色</a:t>
            </a:r>
            <a:endParaRPr lang="en-US" altLang="zh-CN" sz="6600" b="1" dirty="0">
              <a:ln w="0"/>
              <a:solidFill>
                <a:srgbClr val="F3851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488315" y="6009005"/>
            <a:ext cx="4234815" cy="558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2025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zh-CN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陈晓腾</a:t>
            </a:r>
            <a:endParaRPr lang="zh-CN" altLang="en-US" sz="2000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393700" y="3034030"/>
            <a:ext cx="10828655" cy="8394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36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开一个好头</a:t>
            </a:r>
            <a:endParaRPr lang="zh-CN" altLang="en-US" sz="36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2"/>
          <p:cNvSpPr txBox="1"/>
          <p:nvPr/>
        </p:nvSpPr>
        <p:spPr>
          <a:xfrm>
            <a:off x="4051935" y="1971040"/>
            <a:ext cx="6888480" cy="1872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spcBef>
                <a:spcPts val="0"/>
              </a:spcBef>
              <a:spcAft>
                <a:spcPts val="1200"/>
              </a:spcAft>
            </a:pPr>
            <a:r>
              <a:rPr 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01.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如何快速进入角色</a:t>
            </a:r>
            <a:endParaRPr lang="zh-CN" sz="40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spcBef>
                <a:spcPts val="0"/>
              </a:spcBef>
              <a:spcAft>
                <a:spcPts val="1200"/>
              </a:spcAft>
            </a:pPr>
            <a:r>
              <a:rPr 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02.</a:t>
            </a:r>
            <a:r>
              <a:rPr lang="zh-CN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开一次成功的见面会</a:t>
            </a:r>
            <a:endParaRPr lang="zh-CN" sz="40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01625" y="2486611"/>
            <a:ext cx="101917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6600" b="1" dirty="0">
                <a:ln w="0"/>
                <a:solidFill>
                  <a:srgbClr val="F385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如何快速进入角色</a:t>
            </a:r>
            <a:endParaRPr lang="zh-CN" sz="6600" b="1" dirty="0">
              <a:ln w="0"/>
              <a:solidFill>
                <a:srgbClr val="F3851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179070" y="6009005"/>
            <a:ext cx="4234815" cy="558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2025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zh-CN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陈晓腾</a:t>
            </a:r>
            <a:endParaRPr lang="zh-CN" altLang="en-US" sz="2000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sz="2800" b="1">
                <a:latin typeface="默认字体"/>
                <a:ea typeface="宋体" panose="02010600030101010101" pitchFamily="2" charset="-122"/>
              </a:rPr>
              <a:t>万事开头难</a:t>
            </a:r>
            <a:endParaRPr lang="zh-CN" sz="2800" b="1">
              <a:latin typeface="默认字体"/>
              <a:ea typeface="宋体" panose="02010600030101010101" pitchFamily="2" charset="-122"/>
            </a:endParaRPr>
          </a:p>
        </p:txBody>
      </p:sp>
      <p:sp>
        <p:nvSpPr>
          <p:cNvPr id="37" name="三角形 1"/>
          <p:cNvSpPr/>
          <p:nvPr>
            <p:custDataLst>
              <p:tags r:id="rId1"/>
            </p:custDataLst>
          </p:nvPr>
        </p:nvSpPr>
        <p:spPr>
          <a:xfrm>
            <a:off x="4493260" y="1496695"/>
            <a:ext cx="3137535" cy="3472180"/>
          </a:xfrm>
          <a:prstGeom prst="triangle">
            <a:avLst/>
          </a:prstGeom>
          <a:solidFill>
            <a:srgbClr val="D9D9D9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1404938" y="1989455"/>
            <a:ext cx="2663190" cy="58864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376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不信任</a:t>
            </a:r>
            <a:endParaRPr lang="zh-CN" altLang="en-US" sz="2000" b="1">
              <a:solidFill>
                <a:srgbClr val="376FF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>
            <a:off x="759143" y="3678555"/>
            <a:ext cx="2663190" cy="58864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376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不习惯</a:t>
            </a:r>
            <a:endParaRPr lang="zh-CN" altLang="en-US" sz="2000" b="1">
              <a:solidFill>
                <a:srgbClr val="376FF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8059103" y="2907030"/>
            <a:ext cx="2695575" cy="58864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17D594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不了解</a:t>
            </a:r>
            <a:endParaRPr lang="zh-CN" altLang="en-US" sz="2000" b="1">
              <a:solidFill>
                <a:srgbClr val="17D594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 rot="3000000" flipH="1">
            <a:off x="4744403" y="3714115"/>
            <a:ext cx="210185" cy="186690"/>
          </a:xfrm>
          <a:custGeom>
            <a:avLst/>
            <a:gdLst>
              <a:gd name="connsiteX0" fmla="*/ 0 w 316"/>
              <a:gd name="connsiteY0" fmla="*/ 185 h 291"/>
              <a:gd name="connsiteX1" fmla="*/ 81 w 316"/>
              <a:gd name="connsiteY1" fmla="*/ 0 h 291"/>
              <a:gd name="connsiteX2" fmla="*/ 316 w 316"/>
              <a:gd name="connsiteY2" fmla="*/ 291 h 291"/>
              <a:gd name="connsiteX3" fmla="*/ 0 w 316"/>
              <a:gd name="connsiteY3" fmla="*/ 185 h 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6" h="291">
                <a:moveTo>
                  <a:pt x="0" y="185"/>
                </a:moveTo>
                <a:lnTo>
                  <a:pt x="81" y="0"/>
                </a:lnTo>
                <a:lnTo>
                  <a:pt x="316" y="291"/>
                </a:lnTo>
                <a:lnTo>
                  <a:pt x="0" y="185"/>
                </a:lnTo>
                <a:close/>
              </a:path>
            </a:pathLst>
          </a:custGeom>
          <a:solidFill>
            <a:srgbClr val="17D59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6860858" y="3143885"/>
            <a:ext cx="560132" cy="109439"/>
          </a:xfrm>
          <a:custGeom>
            <a:avLst/>
            <a:gdLst>
              <a:gd name="connsiteX0" fmla="*/ 89 w 846"/>
              <a:gd name="connsiteY0" fmla="*/ 218 h 218"/>
              <a:gd name="connsiteX1" fmla="*/ 0 w 846"/>
              <a:gd name="connsiteY1" fmla="*/ 0 h 218"/>
              <a:gd name="connsiteX2" fmla="*/ 846 w 846"/>
              <a:gd name="connsiteY2" fmla="*/ 218 h 218"/>
              <a:gd name="connsiteX3" fmla="*/ 89 w 846"/>
              <a:gd name="connsiteY3" fmla="*/ 218 h 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2" h="172">
                <a:moveTo>
                  <a:pt x="0" y="0"/>
                </a:moveTo>
                <a:lnTo>
                  <a:pt x="882" y="172"/>
                </a:lnTo>
                <a:lnTo>
                  <a:pt x="83" y="172"/>
                </a:lnTo>
                <a:lnTo>
                  <a:pt x="0" y="0"/>
                </a:lnTo>
                <a:close/>
              </a:path>
            </a:pathLst>
          </a:custGeom>
          <a:solidFill>
            <a:srgbClr val="17D59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4714558" y="3248660"/>
            <a:ext cx="2706370" cy="540000"/>
          </a:xfrm>
          <a:prstGeom prst="rect">
            <a:avLst/>
          </a:prstGeom>
          <a:gradFill>
            <a:gsLst>
              <a:gs pos="0">
                <a:srgbClr val="17D594">
                  <a:lumMod val="20000"/>
                  <a:lumOff val="80000"/>
                </a:srgbClr>
              </a:gs>
              <a:gs pos="100000">
                <a:srgbClr val="17D594"/>
              </a:gs>
              <a:gs pos="30000">
                <a:srgbClr val="17D594">
                  <a:lumMod val="60000"/>
                  <a:lumOff val="4000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000" b="1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02</a:t>
            </a:r>
            <a:endParaRPr lang="en-US" sz="2000" b="1">
              <a:solidFill>
                <a:srgbClr val="FFF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7299643" y="4055110"/>
            <a:ext cx="579568" cy="101546"/>
          </a:xfrm>
          <a:custGeom>
            <a:avLst/>
            <a:gdLst>
              <a:gd name="connsiteX0" fmla="*/ 89 w 846"/>
              <a:gd name="connsiteY0" fmla="*/ 218 h 218"/>
              <a:gd name="connsiteX1" fmla="*/ 0 w 846"/>
              <a:gd name="connsiteY1" fmla="*/ 0 h 218"/>
              <a:gd name="connsiteX2" fmla="*/ 846 w 846"/>
              <a:gd name="connsiteY2" fmla="*/ 218 h 218"/>
              <a:gd name="connsiteX3" fmla="*/ 89 w 846"/>
              <a:gd name="connsiteY3" fmla="*/ 218 h 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3" h="160">
                <a:moveTo>
                  <a:pt x="0" y="0"/>
                </a:moveTo>
                <a:lnTo>
                  <a:pt x="913" y="160"/>
                </a:lnTo>
                <a:lnTo>
                  <a:pt x="77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76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任意多边形 1"/>
          <p:cNvSpPr/>
          <p:nvPr>
            <p:custDataLst>
              <p:tags r:id="rId9"/>
            </p:custDataLst>
          </p:nvPr>
        </p:nvSpPr>
        <p:spPr>
          <a:xfrm rot="3000000" flipH="1">
            <a:off x="4306888" y="4578985"/>
            <a:ext cx="244475" cy="247650"/>
          </a:xfrm>
          <a:custGeom>
            <a:avLst/>
            <a:gdLst>
              <a:gd name="connsiteX0" fmla="*/ 0 w 316"/>
              <a:gd name="connsiteY0" fmla="*/ 185 h 291"/>
              <a:gd name="connsiteX1" fmla="*/ 81 w 316"/>
              <a:gd name="connsiteY1" fmla="*/ 0 h 291"/>
              <a:gd name="connsiteX2" fmla="*/ 316 w 316"/>
              <a:gd name="connsiteY2" fmla="*/ 291 h 291"/>
              <a:gd name="connsiteX3" fmla="*/ 0 w 316"/>
              <a:gd name="connsiteY3" fmla="*/ 185 h 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6" h="291">
                <a:moveTo>
                  <a:pt x="0" y="185"/>
                </a:moveTo>
                <a:lnTo>
                  <a:pt x="81" y="0"/>
                </a:lnTo>
                <a:lnTo>
                  <a:pt x="316" y="291"/>
                </a:lnTo>
                <a:lnTo>
                  <a:pt x="0" y="185"/>
                </a:lnTo>
                <a:close/>
              </a:path>
            </a:pathLst>
          </a:custGeom>
          <a:solidFill>
            <a:srgbClr val="376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4256723" y="4149725"/>
            <a:ext cx="3622675" cy="540000"/>
          </a:xfrm>
          <a:prstGeom prst="rect">
            <a:avLst/>
          </a:prstGeom>
          <a:gradFill>
            <a:gsLst>
              <a:gs pos="0">
                <a:srgbClr val="376FFF">
                  <a:lumMod val="20000"/>
                  <a:lumOff val="80000"/>
                </a:srgbClr>
              </a:gs>
              <a:gs pos="100000">
                <a:srgbClr val="376FFF"/>
              </a:gs>
              <a:gs pos="30000">
                <a:srgbClr val="376FFF">
                  <a:lumMod val="60000"/>
                  <a:lumOff val="4000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03</a:t>
            </a:r>
            <a:endParaRPr lang="en-US" sz="2000" b="1">
              <a:solidFill>
                <a:srgbClr val="FFF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11"/>
            </p:custDataLst>
          </p:nvPr>
        </p:nvSpPr>
        <p:spPr>
          <a:xfrm>
            <a:off x="6411913" y="2212340"/>
            <a:ext cx="626557" cy="139296"/>
          </a:xfrm>
          <a:custGeom>
            <a:avLst/>
            <a:gdLst>
              <a:gd name="connsiteX0" fmla="*/ 89 w 846"/>
              <a:gd name="connsiteY0" fmla="*/ 218 h 218"/>
              <a:gd name="connsiteX1" fmla="*/ 0 w 846"/>
              <a:gd name="connsiteY1" fmla="*/ 0 h 218"/>
              <a:gd name="connsiteX2" fmla="*/ 846 w 846"/>
              <a:gd name="connsiteY2" fmla="*/ 218 h 218"/>
              <a:gd name="connsiteX3" fmla="*/ 89 w 846"/>
              <a:gd name="connsiteY3" fmla="*/ 218 h 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7" h="219">
                <a:moveTo>
                  <a:pt x="0" y="0"/>
                </a:moveTo>
                <a:lnTo>
                  <a:pt x="987" y="219"/>
                </a:lnTo>
                <a:lnTo>
                  <a:pt x="106" y="219"/>
                </a:lnTo>
                <a:lnTo>
                  <a:pt x="0" y="0"/>
                </a:lnTo>
                <a:close/>
              </a:path>
            </a:pathLst>
          </a:custGeom>
          <a:solidFill>
            <a:srgbClr val="376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 rot="3000000" flipH="1">
            <a:off x="5136833" y="2797175"/>
            <a:ext cx="240030" cy="220980"/>
          </a:xfrm>
          <a:custGeom>
            <a:avLst/>
            <a:gdLst>
              <a:gd name="connsiteX0" fmla="*/ 0 w 316"/>
              <a:gd name="connsiteY0" fmla="*/ 185 h 291"/>
              <a:gd name="connsiteX1" fmla="*/ 81 w 316"/>
              <a:gd name="connsiteY1" fmla="*/ 0 h 291"/>
              <a:gd name="connsiteX2" fmla="*/ 316 w 316"/>
              <a:gd name="connsiteY2" fmla="*/ 291 h 291"/>
              <a:gd name="connsiteX3" fmla="*/ 0 w 316"/>
              <a:gd name="connsiteY3" fmla="*/ 185 h 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6" h="291">
                <a:moveTo>
                  <a:pt x="0" y="185"/>
                </a:moveTo>
                <a:lnTo>
                  <a:pt x="81" y="0"/>
                </a:lnTo>
                <a:lnTo>
                  <a:pt x="316" y="291"/>
                </a:lnTo>
                <a:lnTo>
                  <a:pt x="0" y="185"/>
                </a:lnTo>
                <a:close/>
              </a:path>
            </a:pathLst>
          </a:custGeom>
          <a:solidFill>
            <a:srgbClr val="376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13"/>
            </p:custDataLst>
          </p:nvPr>
        </p:nvSpPr>
        <p:spPr>
          <a:xfrm>
            <a:off x="5096828" y="2347595"/>
            <a:ext cx="1941830" cy="540000"/>
          </a:xfrm>
          <a:prstGeom prst="rect">
            <a:avLst/>
          </a:prstGeom>
          <a:gradFill>
            <a:gsLst>
              <a:gs pos="0">
                <a:srgbClr val="376FFF">
                  <a:lumMod val="20000"/>
                  <a:lumOff val="80000"/>
                </a:srgbClr>
              </a:gs>
              <a:gs pos="100000">
                <a:srgbClr val="376FFF"/>
              </a:gs>
              <a:gs pos="30000">
                <a:srgbClr val="376FFF">
                  <a:lumMod val="60000"/>
                  <a:lumOff val="4000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01</a:t>
            </a:r>
            <a:endParaRPr lang="en-US" sz="2000" b="1">
              <a:solidFill>
                <a:srgbClr val="FFF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14"/>
            </p:custDataLst>
          </p:nvPr>
        </p:nvCxnSpPr>
        <p:spPr>
          <a:xfrm>
            <a:off x="4352608" y="2563495"/>
            <a:ext cx="734060" cy="635"/>
          </a:xfrm>
          <a:prstGeom prst="line">
            <a:avLst/>
          </a:prstGeom>
          <a:noFill/>
          <a:ln w="9525" cap="flat" cmpd="sng" algn="ctr">
            <a:solidFill>
              <a:srgbClr val="000000">
                <a:lumMod val="65000"/>
                <a:lumOff val="35000"/>
                <a:alpha val="40000"/>
              </a:srgbClr>
            </a:solidFill>
            <a:prstDash val="sysDash"/>
            <a:miter lim="800000"/>
            <a:headEnd type="oval"/>
            <a:tailEnd type="none"/>
          </a:ln>
          <a:effectLst/>
        </p:spPr>
      </p:cxnSp>
      <p:cxnSp>
        <p:nvCxnSpPr>
          <p:cNvPr id="25" name="直接连接符 24"/>
          <p:cNvCxnSpPr/>
          <p:nvPr>
            <p:custDataLst>
              <p:tags r:id="rId15"/>
            </p:custDataLst>
          </p:nvPr>
        </p:nvCxnSpPr>
        <p:spPr>
          <a:xfrm>
            <a:off x="7420928" y="3418840"/>
            <a:ext cx="471170" cy="0"/>
          </a:xfrm>
          <a:prstGeom prst="line">
            <a:avLst/>
          </a:prstGeom>
          <a:noFill/>
          <a:ln w="9525" cap="flat" cmpd="sng" algn="ctr">
            <a:solidFill>
              <a:srgbClr val="000000">
                <a:lumMod val="65000"/>
                <a:lumOff val="35000"/>
                <a:alpha val="40000"/>
              </a:srgbClr>
            </a:solidFill>
            <a:prstDash val="sysDash"/>
            <a:miter lim="800000"/>
            <a:headEnd type="none"/>
            <a:tailEnd type="oval"/>
          </a:ln>
          <a:effectLst/>
        </p:spPr>
      </p:cxnSp>
      <p:cxnSp>
        <p:nvCxnSpPr>
          <p:cNvPr id="28" name="直接连接符 27"/>
          <p:cNvCxnSpPr/>
          <p:nvPr>
            <p:custDataLst>
              <p:tags r:id="rId16"/>
            </p:custDataLst>
          </p:nvPr>
        </p:nvCxnSpPr>
        <p:spPr>
          <a:xfrm>
            <a:off x="3609023" y="4352925"/>
            <a:ext cx="650240" cy="0"/>
          </a:xfrm>
          <a:prstGeom prst="line">
            <a:avLst/>
          </a:prstGeom>
          <a:noFill/>
          <a:ln w="9525" cap="flat" cmpd="sng" algn="ctr">
            <a:solidFill>
              <a:srgbClr val="000000">
                <a:lumMod val="65000"/>
                <a:lumOff val="35000"/>
                <a:alpha val="40000"/>
              </a:srgbClr>
            </a:solidFill>
            <a:prstDash val="sysDash"/>
            <a:miter lim="800000"/>
            <a:headEnd type="oval"/>
            <a:tailEnd type="none"/>
          </a:ln>
          <a:effectLst/>
        </p:spPr>
      </p:cxnSp>
      <p:sp>
        <p:nvSpPr>
          <p:cNvPr id="27" name="矩形 26"/>
          <p:cNvSpPr/>
          <p:nvPr>
            <p:custDataLst>
              <p:tags r:id="rId17"/>
            </p:custDataLst>
          </p:nvPr>
        </p:nvSpPr>
        <p:spPr>
          <a:xfrm>
            <a:off x="8059420" y="3522345"/>
            <a:ext cx="3305810" cy="10528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历史数据、商圈、等关键信息交接不全，人员互相不了解。</a:t>
            </a:r>
            <a:endParaRPr lang="zh-CN" altLang="en-US" sz="16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不知道如何切入工作，迷茫无重点</a:t>
            </a:r>
            <a:endParaRPr lang="zh-CN" altLang="en-US" sz="1600">
              <a:solidFill>
                <a:srgbClr val="FF000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>
            <p:custDataLst>
              <p:tags r:id="rId18"/>
            </p:custDataLst>
          </p:nvPr>
        </p:nvSpPr>
        <p:spPr>
          <a:xfrm>
            <a:off x="652463" y="4298950"/>
            <a:ext cx="2778760" cy="7556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老员工因习惯前任管理风格，</a:t>
            </a:r>
            <a:r>
              <a:rPr lang="zh-CN" sz="160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引发冲突，排斥，矛盾</a:t>
            </a:r>
            <a:endParaRPr lang="zh-CN" sz="1600">
              <a:solidFill>
                <a:srgbClr val="FF000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>
            <p:custDataLst>
              <p:tags r:id="rId19"/>
            </p:custDataLst>
          </p:nvPr>
        </p:nvSpPr>
        <p:spPr>
          <a:xfrm>
            <a:off x="1289368" y="2640330"/>
            <a:ext cx="2778760" cy="7556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老员工对新管理者能力存疑</a:t>
            </a:r>
            <a:endParaRPr lang="zh-CN" altLang="en-US" sz="16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提出挑战，不符管，不配合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sz="2800" b="1">
                <a:latin typeface="微软雅黑" panose="020B0503020204020204" pitchFamily="34" charset="-122"/>
              </a:rPr>
              <a:t>如何快速进入角色</a:t>
            </a:r>
            <a:endParaRPr lang="zh-CN" sz="2800" b="1">
              <a:latin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547346" y="2934435"/>
            <a:ext cx="2159049" cy="1782255"/>
            <a:chOff x="3547346" y="2934435"/>
            <a:chExt cx="2159049" cy="1782255"/>
          </a:xfrm>
        </p:grpSpPr>
        <p:sp>
          <p:nvSpPr>
            <p:cNvPr id="140" name="任意多边形 60"/>
            <p:cNvSpPr/>
            <p:nvPr/>
          </p:nvSpPr>
          <p:spPr bwMode="auto">
            <a:xfrm>
              <a:off x="3547346" y="2934435"/>
              <a:ext cx="2159049" cy="1782255"/>
            </a:xfrm>
            <a:custGeom>
              <a:avLst/>
              <a:gdLst>
                <a:gd name="connsiteX0" fmla="*/ 0 w 1729442"/>
                <a:gd name="connsiteY0" fmla="*/ 142643 h 1426428"/>
                <a:gd name="connsiteX1" fmla="*/ 142643 w 1729442"/>
                <a:gd name="connsiteY1" fmla="*/ 0 h 1426428"/>
                <a:gd name="connsiteX2" fmla="*/ 1586799 w 1729442"/>
                <a:gd name="connsiteY2" fmla="*/ 0 h 1426428"/>
                <a:gd name="connsiteX3" fmla="*/ 1729442 w 1729442"/>
                <a:gd name="connsiteY3" fmla="*/ 142643 h 1426428"/>
                <a:gd name="connsiteX4" fmla="*/ 1729442 w 1729442"/>
                <a:gd name="connsiteY4" fmla="*/ 1283785 h 1426428"/>
                <a:gd name="connsiteX5" fmla="*/ 1586799 w 1729442"/>
                <a:gd name="connsiteY5" fmla="*/ 1426428 h 1426428"/>
                <a:gd name="connsiteX6" fmla="*/ 142643 w 1729442"/>
                <a:gd name="connsiteY6" fmla="*/ 1426428 h 1426428"/>
                <a:gd name="connsiteX7" fmla="*/ 0 w 1729442"/>
                <a:gd name="connsiteY7" fmla="*/ 1283785 h 1426428"/>
                <a:gd name="connsiteX8" fmla="*/ 0 w 1729442"/>
                <a:gd name="connsiteY8" fmla="*/ 142643 h 1426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29442" h="1426428">
                  <a:moveTo>
                    <a:pt x="0" y="142643"/>
                  </a:moveTo>
                  <a:cubicBezTo>
                    <a:pt x="0" y="63863"/>
                    <a:pt x="63863" y="0"/>
                    <a:pt x="142643" y="0"/>
                  </a:cubicBezTo>
                  <a:lnTo>
                    <a:pt x="1586799" y="0"/>
                  </a:lnTo>
                  <a:cubicBezTo>
                    <a:pt x="1665579" y="0"/>
                    <a:pt x="1729442" y="63863"/>
                    <a:pt x="1729442" y="142643"/>
                  </a:cubicBezTo>
                  <a:lnTo>
                    <a:pt x="1729442" y="1283785"/>
                  </a:lnTo>
                  <a:cubicBezTo>
                    <a:pt x="1729442" y="1362565"/>
                    <a:pt x="1665579" y="1426428"/>
                    <a:pt x="1586799" y="1426428"/>
                  </a:cubicBezTo>
                  <a:lnTo>
                    <a:pt x="142643" y="1426428"/>
                  </a:lnTo>
                  <a:cubicBezTo>
                    <a:pt x="63863" y="1426428"/>
                    <a:pt x="0" y="1362565"/>
                    <a:pt x="0" y="1283785"/>
                  </a:cubicBezTo>
                  <a:lnTo>
                    <a:pt x="0" y="142643"/>
                  </a:lnTo>
                  <a:close/>
                </a:path>
              </a:pathLst>
            </a:cu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1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72" name="TextBox 11"/>
            <p:cNvSpPr txBox="1">
              <a:spLocks noChangeArrowheads="1"/>
            </p:cNvSpPr>
            <p:nvPr/>
          </p:nvSpPr>
          <p:spPr bwMode="auto">
            <a:xfrm flipH="1">
              <a:off x="3615800" y="3389652"/>
              <a:ext cx="2025897" cy="64516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尽快组织一次成功的员工会议，和大家正式见面，明确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身份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34" name="形状 133"/>
          <p:cNvSpPr/>
          <p:nvPr/>
        </p:nvSpPr>
        <p:spPr>
          <a:xfrm>
            <a:off x="2028799" y="3380414"/>
            <a:ext cx="2349847" cy="2349847"/>
          </a:xfrm>
          <a:prstGeom prst="leftCircularArrow">
            <a:avLst>
              <a:gd name="adj1" fmla="val 3021"/>
              <a:gd name="adj2" fmla="val 370612"/>
              <a:gd name="adj3" fmla="val 2146122"/>
              <a:gd name="adj4" fmla="val 9024489"/>
              <a:gd name="adj5" fmla="val 3525"/>
            </a:avLst>
          </a:prstGeom>
          <a:solidFill>
            <a:schemeClr val="accent4"/>
          </a:solidFill>
          <a:ln>
            <a:noFill/>
          </a:ln>
          <a:effectLst/>
          <a:scene3d>
            <a:camera prst="orthographicFront"/>
            <a:lightRig rig="threePt" dir="t">
              <a:rot lat="0" lon="0" rev="7500000"/>
            </a:lightRig>
          </a:scene3d>
          <a:sp3d z="-70000" extrusionH="63500" prstMaterial="matte">
            <a:bevelT w="25400" h="6350" prst="relaxedInset"/>
            <a:contourClr>
              <a:schemeClr val="bg1"/>
            </a:contourClr>
          </a:sp3d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5" name="形状 134"/>
          <p:cNvSpPr/>
          <p:nvPr/>
        </p:nvSpPr>
        <p:spPr>
          <a:xfrm>
            <a:off x="7503519" y="3380414"/>
            <a:ext cx="2349847" cy="2349847"/>
          </a:xfrm>
          <a:prstGeom prst="leftCircularArrow">
            <a:avLst>
              <a:gd name="adj1" fmla="val 3021"/>
              <a:gd name="adj2" fmla="val 370612"/>
              <a:gd name="adj3" fmla="val 2146122"/>
              <a:gd name="adj4" fmla="val 9024489"/>
              <a:gd name="adj5" fmla="val 3525"/>
            </a:avLst>
          </a:prstGeom>
          <a:solidFill>
            <a:schemeClr val="accent4"/>
          </a:solidFill>
          <a:ln>
            <a:noFill/>
          </a:ln>
          <a:effectLst/>
          <a:scene3d>
            <a:camera prst="orthographicFront"/>
            <a:lightRig rig="threePt" dir="t">
              <a:rot lat="0" lon="0" rev="7500000"/>
            </a:lightRig>
          </a:scene3d>
          <a:sp3d z="-70000" extrusionH="63500" prstMaterial="matte">
            <a:bevelT w="25400" h="6350" prst="relaxedInset"/>
            <a:contourClr>
              <a:schemeClr val="bg1"/>
            </a:contourClr>
          </a:sp3d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3" name="组合 2"/>
          <p:cNvGrpSpPr/>
          <p:nvPr/>
        </p:nvGrpSpPr>
        <p:grpSpPr>
          <a:xfrm>
            <a:off x="810393" y="2934435"/>
            <a:ext cx="2159049" cy="1782255"/>
            <a:chOff x="810393" y="2934435"/>
            <a:chExt cx="2159049" cy="1782255"/>
          </a:xfrm>
        </p:grpSpPr>
        <p:sp>
          <p:nvSpPr>
            <p:cNvPr id="137" name="任意多边形 57"/>
            <p:cNvSpPr/>
            <p:nvPr/>
          </p:nvSpPr>
          <p:spPr bwMode="auto">
            <a:xfrm>
              <a:off x="810393" y="2934435"/>
              <a:ext cx="2159049" cy="1782255"/>
            </a:xfrm>
            <a:custGeom>
              <a:avLst/>
              <a:gdLst>
                <a:gd name="connsiteX0" fmla="*/ 0 w 1729442"/>
                <a:gd name="connsiteY0" fmla="*/ 142643 h 1426428"/>
                <a:gd name="connsiteX1" fmla="*/ 142643 w 1729442"/>
                <a:gd name="connsiteY1" fmla="*/ 0 h 1426428"/>
                <a:gd name="connsiteX2" fmla="*/ 1586799 w 1729442"/>
                <a:gd name="connsiteY2" fmla="*/ 0 h 1426428"/>
                <a:gd name="connsiteX3" fmla="*/ 1729442 w 1729442"/>
                <a:gd name="connsiteY3" fmla="*/ 142643 h 1426428"/>
                <a:gd name="connsiteX4" fmla="*/ 1729442 w 1729442"/>
                <a:gd name="connsiteY4" fmla="*/ 1283785 h 1426428"/>
                <a:gd name="connsiteX5" fmla="*/ 1586799 w 1729442"/>
                <a:gd name="connsiteY5" fmla="*/ 1426428 h 1426428"/>
                <a:gd name="connsiteX6" fmla="*/ 142643 w 1729442"/>
                <a:gd name="connsiteY6" fmla="*/ 1426428 h 1426428"/>
                <a:gd name="connsiteX7" fmla="*/ 0 w 1729442"/>
                <a:gd name="connsiteY7" fmla="*/ 1283785 h 1426428"/>
                <a:gd name="connsiteX8" fmla="*/ 0 w 1729442"/>
                <a:gd name="connsiteY8" fmla="*/ 142643 h 1426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29442" h="1426428">
                  <a:moveTo>
                    <a:pt x="0" y="142643"/>
                  </a:moveTo>
                  <a:cubicBezTo>
                    <a:pt x="0" y="63863"/>
                    <a:pt x="63863" y="0"/>
                    <a:pt x="142643" y="0"/>
                  </a:cubicBezTo>
                  <a:lnTo>
                    <a:pt x="1586799" y="0"/>
                  </a:lnTo>
                  <a:cubicBezTo>
                    <a:pt x="1665579" y="0"/>
                    <a:pt x="1729442" y="63863"/>
                    <a:pt x="1729442" y="142643"/>
                  </a:cubicBezTo>
                  <a:lnTo>
                    <a:pt x="1729442" y="1283785"/>
                  </a:lnTo>
                  <a:cubicBezTo>
                    <a:pt x="1729442" y="1362565"/>
                    <a:pt x="1665579" y="1426428"/>
                    <a:pt x="1586799" y="1426428"/>
                  </a:cubicBezTo>
                  <a:lnTo>
                    <a:pt x="142643" y="1426428"/>
                  </a:lnTo>
                  <a:cubicBezTo>
                    <a:pt x="63863" y="1426428"/>
                    <a:pt x="0" y="1362565"/>
                    <a:pt x="0" y="1283785"/>
                  </a:cubicBezTo>
                  <a:lnTo>
                    <a:pt x="0" y="142643"/>
                  </a:lnTo>
                  <a:close/>
                </a:path>
              </a:pathLst>
            </a:custGeom>
            <a:noFill/>
            <a:ln w="12700">
              <a:solidFill>
                <a:srgbClr val="154A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1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8" name="TextBox 11"/>
            <p:cNvSpPr txBox="1">
              <a:spLocks noChangeArrowheads="1"/>
            </p:cNvSpPr>
            <p:nvPr/>
          </p:nvSpPr>
          <p:spPr bwMode="auto">
            <a:xfrm flipH="1">
              <a:off x="810571" y="3029607"/>
              <a:ext cx="2025897" cy="13836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171450" indent="-171450" algn="just" eaLnBrk="1" fontAlgn="auto" hangingPunct="1">
                <a:spcBef>
                  <a:spcPts val="0"/>
                </a:spcBef>
                <a:spcAft>
                  <a:spcPts val="0"/>
                </a:spcAft>
                <a:buFont typeface="Wingdings" panose="05000000000000000000" charset="0"/>
                <a:buChar char="l"/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营业数据：营业额、利润、人力成本、毛利、房租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等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endParaRPr>
            </a:p>
            <a:p>
              <a:pPr marL="171450" indent="-171450" algn="just" eaLnBrk="1" fontAlgn="auto" hangingPunct="1">
                <a:spcBef>
                  <a:spcPts val="0"/>
                </a:spcBef>
                <a:spcAft>
                  <a:spcPts val="0"/>
                </a:spcAft>
                <a:buFont typeface="Wingdings" panose="05000000000000000000" charset="0"/>
                <a:buChar char="l"/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产品：现烤、蛋糕、包装、贸易、切件、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团购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endParaRPr>
            </a:p>
            <a:p>
              <a:pPr marL="171450" indent="-171450" algn="just" eaLnBrk="1" fontAlgn="auto" hangingPunct="1">
                <a:spcBef>
                  <a:spcPts val="0"/>
                </a:spcBef>
                <a:spcAft>
                  <a:spcPts val="0"/>
                </a:spcAft>
                <a:buFont typeface="Wingdings" panose="05000000000000000000" charset="0"/>
                <a:buChar char="l"/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人员：编制、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能力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endParaRPr>
            </a:p>
            <a:p>
              <a:pPr marL="171450" indent="-171450" algn="just" eaLnBrk="1" fontAlgn="auto" hangingPunct="1">
                <a:spcBef>
                  <a:spcPts val="0"/>
                </a:spcBef>
                <a:spcAft>
                  <a:spcPts val="0"/>
                </a:spcAft>
                <a:buFont typeface="Wingdings" panose="05000000000000000000" charset="0"/>
                <a:buChar char="l"/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外部：竟对、机会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等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50" name="TextBox 70"/>
          <p:cNvSpPr txBox="1"/>
          <p:nvPr/>
        </p:nvSpPr>
        <p:spPr bwMode="auto">
          <a:xfrm>
            <a:off x="1321435" y="4512945"/>
            <a:ext cx="1912620" cy="582295"/>
          </a:xfrm>
          <a:prstGeom prst="rect">
            <a:avLst/>
          </a:prstGeom>
          <a:solidFill>
            <a:srgbClr val="09308F"/>
          </a:solidFill>
          <a:effectLst/>
        </p:spPr>
        <p:txBody>
          <a:bodyPr wrap="square" anchor="ctr" anchorCtr="0">
            <a:no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 sz="14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</a:rPr>
              <a:t>全面了解</a:t>
            </a:r>
            <a:r>
              <a:rPr lang="zh-CN" altLang="en-US" sz="2000" b="1" dirty="0">
                <a:solidFill>
                  <a:schemeClr val="bg1"/>
                </a:solidFill>
              </a:rPr>
              <a:t>门店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51" name="椭圆 150"/>
          <p:cNvSpPr/>
          <p:nvPr/>
        </p:nvSpPr>
        <p:spPr bwMode="auto">
          <a:xfrm rot="16832238" flipH="1">
            <a:off x="2905872" y="4567591"/>
            <a:ext cx="492374" cy="490062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2" name="椭圆 151"/>
          <p:cNvSpPr/>
          <p:nvPr/>
        </p:nvSpPr>
        <p:spPr bwMode="auto">
          <a:xfrm rot="16832238" flipH="1">
            <a:off x="2816875" y="4762924"/>
            <a:ext cx="469258" cy="469257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6" name="椭圆 155"/>
          <p:cNvSpPr/>
          <p:nvPr/>
        </p:nvSpPr>
        <p:spPr bwMode="auto">
          <a:xfrm rot="16832238" flipH="1">
            <a:off x="8343949" y="4751365"/>
            <a:ext cx="466946" cy="466947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7" name="椭圆 156"/>
          <p:cNvSpPr/>
          <p:nvPr/>
        </p:nvSpPr>
        <p:spPr bwMode="auto">
          <a:xfrm rot="16832238" flipH="1">
            <a:off x="8444503" y="4440454"/>
            <a:ext cx="466946" cy="469258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1" name="椭圆 160"/>
          <p:cNvSpPr/>
          <p:nvPr/>
        </p:nvSpPr>
        <p:spPr bwMode="auto">
          <a:xfrm rot="16832238" flipH="1">
            <a:off x="11028889" y="2974888"/>
            <a:ext cx="469258" cy="466946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2" name="椭圆 161"/>
          <p:cNvSpPr/>
          <p:nvPr/>
        </p:nvSpPr>
        <p:spPr bwMode="auto">
          <a:xfrm rot="16832238" flipH="1">
            <a:off x="11091303" y="2674379"/>
            <a:ext cx="469258" cy="466946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3" name="环形箭头 83"/>
          <p:cNvSpPr/>
          <p:nvPr/>
        </p:nvSpPr>
        <p:spPr>
          <a:xfrm>
            <a:off x="4765548" y="1787184"/>
            <a:ext cx="2625767" cy="2625767"/>
          </a:xfrm>
          <a:prstGeom prst="circularArrow">
            <a:avLst>
              <a:gd name="adj1" fmla="val 2704"/>
              <a:gd name="adj2" fmla="val 329210"/>
              <a:gd name="adj3" fmla="val 19495279"/>
              <a:gd name="adj4" fmla="val 12575511"/>
              <a:gd name="adj5" fmla="val 3154"/>
            </a:avLst>
          </a:prstGeom>
          <a:solidFill>
            <a:srgbClr val="154A9C"/>
          </a:solidFill>
          <a:ln>
            <a:noFill/>
          </a:ln>
          <a:effectLst/>
          <a:scene3d>
            <a:camera prst="orthographicFront"/>
            <a:lightRig rig="threePt" dir="t">
              <a:rot lat="0" lon="0" rev="7500000"/>
            </a:lightRig>
          </a:scene3d>
          <a:sp3d z="-70000" extrusionH="63500" prstMaterial="matte">
            <a:bevelT w="25400" h="6350" prst="relaxedInset"/>
            <a:contourClr>
              <a:schemeClr val="bg1"/>
            </a:contourClr>
          </a:sp3d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67" name="椭圆 166"/>
          <p:cNvSpPr/>
          <p:nvPr/>
        </p:nvSpPr>
        <p:spPr bwMode="auto">
          <a:xfrm rot="16832238" flipH="1">
            <a:off x="5537648" y="2952928"/>
            <a:ext cx="469258" cy="469259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8" name="椭圆 167"/>
          <p:cNvSpPr/>
          <p:nvPr/>
        </p:nvSpPr>
        <p:spPr bwMode="auto">
          <a:xfrm rot="16832238" flipH="1">
            <a:off x="5593126" y="2719454"/>
            <a:ext cx="469259" cy="469259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025850" y="2553018"/>
            <a:ext cx="1918642" cy="765145"/>
            <a:chOff x="4025850" y="2553018"/>
            <a:chExt cx="1918642" cy="765145"/>
          </a:xfrm>
          <a:solidFill>
            <a:schemeClr val="accent4"/>
          </a:solidFill>
        </p:grpSpPr>
        <p:sp>
          <p:nvSpPr>
            <p:cNvPr id="165" name="任意多边形 85"/>
            <p:cNvSpPr/>
            <p:nvPr/>
          </p:nvSpPr>
          <p:spPr bwMode="auto">
            <a:xfrm>
              <a:off x="4025850" y="2553018"/>
              <a:ext cx="1918642" cy="765145"/>
            </a:xfrm>
            <a:custGeom>
              <a:avLst/>
              <a:gdLst>
                <a:gd name="connsiteX0" fmla="*/ 0 w 1537282"/>
                <a:gd name="connsiteY0" fmla="*/ 61133 h 611326"/>
                <a:gd name="connsiteX1" fmla="*/ 61133 w 1537282"/>
                <a:gd name="connsiteY1" fmla="*/ 0 h 611326"/>
                <a:gd name="connsiteX2" fmla="*/ 1476149 w 1537282"/>
                <a:gd name="connsiteY2" fmla="*/ 0 h 611326"/>
                <a:gd name="connsiteX3" fmla="*/ 1537282 w 1537282"/>
                <a:gd name="connsiteY3" fmla="*/ 61133 h 611326"/>
                <a:gd name="connsiteX4" fmla="*/ 1537282 w 1537282"/>
                <a:gd name="connsiteY4" fmla="*/ 550193 h 611326"/>
                <a:gd name="connsiteX5" fmla="*/ 1476149 w 1537282"/>
                <a:gd name="connsiteY5" fmla="*/ 611326 h 611326"/>
                <a:gd name="connsiteX6" fmla="*/ 61133 w 1537282"/>
                <a:gd name="connsiteY6" fmla="*/ 611326 h 611326"/>
                <a:gd name="connsiteX7" fmla="*/ 0 w 1537282"/>
                <a:gd name="connsiteY7" fmla="*/ 550193 h 611326"/>
                <a:gd name="connsiteX8" fmla="*/ 0 w 1537282"/>
                <a:gd name="connsiteY8" fmla="*/ 61133 h 61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7282" h="611326">
                  <a:moveTo>
                    <a:pt x="0" y="61133"/>
                  </a:moveTo>
                  <a:cubicBezTo>
                    <a:pt x="0" y="27370"/>
                    <a:pt x="27370" y="0"/>
                    <a:pt x="61133" y="0"/>
                  </a:cubicBezTo>
                  <a:lnTo>
                    <a:pt x="1476149" y="0"/>
                  </a:lnTo>
                  <a:cubicBezTo>
                    <a:pt x="1509912" y="0"/>
                    <a:pt x="1537282" y="27370"/>
                    <a:pt x="1537282" y="61133"/>
                  </a:cubicBezTo>
                  <a:lnTo>
                    <a:pt x="1537282" y="550193"/>
                  </a:lnTo>
                  <a:cubicBezTo>
                    <a:pt x="1537282" y="583956"/>
                    <a:pt x="1509912" y="611326"/>
                    <a:pt x="1476149" y="611326"/>
                  </a:cubicBezTo>
                  <a:lnTo>
                    <a:pt x="61133" y="611326"/>
                  </a:lnTo>
                  <a:cubicBezTo>
                    <a:pt x="27370" y="611326"/>
                    <a:pt x="0" y="583956"/>
                    <a:pt x="0" y="550193"/>
                  </a:cubicBezTo>
                  <a:lnTo>
                    <a:pt x="0" y="6113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69" name="TextBox 70"/>
            <p:cNvSpPr txBox="1"/>
            <p:nvPr/>
          </p:nvSpPr>
          <p:spPr bwMode="auto">
            <a:xfrm>
              <a:off x="4232657" y="2737214"/>
              <a:ext cx="1574211" cy="398780"/>
            </a:xfrm>
            <a:prstGeom prst="rect">
              <a:avLst/>
            </a:prstGeom>
            <a:grpFill/>
            <a:effectLst/>
          </p:spPr>
          <p:txBody>
            <a:bodyPr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1400" b="0" spc="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>
                <a:defRPr/>
              </a:pPr>
              <a:r>
                <a:rPr lang="zh-CN" altLang="en-US" sz="2000" b="1" dirty="0">
                  <a:solidFill>
                    <a:schemeClr val="bg1"/>
                  </a:solidFill>
                </a:rPr>
                <a:t>正式会议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284299" y="2934435"/>
            <a:ext cx="2159049" cy="1782255"/>
            <a:chOff x="6284299" y="2934435"/>
            <a:chExt cx="2159049" cy="1782255"/>
          </a:xfrm>
        </p:grpSpPr>
        <p:sp>
          <p:nvSpPr>
            <p:cNvPr id="143" name="任意多边形 63"/>
            <p:cNvSpPr/>
            <p:nvPr/>
          </p:nvSpPr>
          <p:spPr bwMode="auto">
            <a:xfrm>
              <a:off x="6284299" y="2934435"/>
              <a:ext cx="2159049" cy="1782255"/>
            </a:xfrm>
            <a:custGeom>
              <a:avLst/>
              <a:gdLst>
                <a:gd name="connsiteX0" fmla="*/ 0 w 1729442"/>
                <a:gd name="connsiteY0" fmla="*/ 142643 h 1426428"/>
                <a:gd name="connsiteX1" fmla="*/ 142643 w 1729442"/>
                <a:gd name="connsiteY1" fmla="*/ 0 h 1426428"/>
                <a:gd name="connsiteX2" fmla="*/ 1586799 w 1729442"/>
                <a:gd name="connsiteY2" fmla="*/ 0 h 1426428"/>
                <a:gd name="connsiteX3" fmla="*/ 1729442 w 1729442"/>
                <a:gd name="connsiteY3" fmla="*/ 142643 h 1426428"/>
                <a:gd name="connsiteX4" fmla="*/ 1729442 w 1729442"/>
                <a:gd name="connsiteY4" fmla="*/ 1283785 h 1426428"/>
                <a:gd name="connsiteX5" fmla="*/ 1586799 w 1729442"/>
                <a:gd name="connsiteY5" fmla="*/ 1426428 h 1426428"/>
                <a:gd name="connsiteX6" fmla="*/ 142643 w 1729442"/>
                <a:gd name="connsiteY6" fmla="*/ 1426428 h 1426428"/>
                <a:gd name="connsiteX7" fmla="*/ 0 w 1729442"/>
                <a:gd name="connsiteY7" fmla="*/ 1283785 h 1426428"/>
                <a:gd name="connsiteX8" fmla="*/ 0 w 1729442"/>
                <a:gd name="connsiteY8" fmla="*/ 142643 h 1426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29442" h="1426428">
                  <a:moveTo>
                    <a:pt x="0" y="142643"/>
                  </a:moveTo>
                  <a:cubicBezTo>
                    <a:pt x="0" y="63863"/>
                    <a:pt x="63863" y="0"/>
                    <a:pt x="142643" y="0"/>
                  </a:cubicBezTo>
                  <a:lnTo>
                    <a:pt x="1586799" y="0"/>
                  </a:lnTo>
                  <a:cubicBezTo>
                    <a:pt x="1665579" y="0"/>
                    <a:pt x="1729442" y="63863"/>
                    <a:pt x="1729442" y="142643"/>
                  </a:cubicBezTo>
                  <a:lnTo>
                    <a:pt x="1729442" y="1283785"/>
                  </a:lnTo>
                  <a:cubicBezTo>
                    <a:pt x="1729442" y="1362565"/>
                    <a:pt x="1665579" y="1426428"/>
                    <a:pt x="1586799" y="1426428"/>
                  </a:cubicBezTo>
                  <a:lnTo>
                    <a:pt x="142643" y="1426428"/>
                  </a:lnTo>
                  <a:cubicBezTo>
                    <a:pt x="63863" y="1426428"/>
                    <a:pt x="0" y="1362565"/>
                    <a:pt x="0" y="1283785"/>
                  </a:cubicBezTo>
                  <a:lnTo>
                    <a:pt x="0" y="142643"/>
                  </a:lnTo>
                  <a:close/>
                </a:path>
              </a:pathLst>
            </a:custGeom>
            <a:noFill/>
            <a:ln w="12700">
              <a:solidFill>
                <a:srgbClr val="154A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1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73" name="TextBox 11"/>
            <p:cNvSpPr txBox="1">
              <a:spLocks noChangeArrowheads="1"/>
            </p:cNvSpPr>
            <p:nvPr/>
          </p:nvSpPr>
          <p:spPr bwMode="auto">
            <a:xfrm flipH="1">
              <a:off x="6351609" y="3029685"/>
              <a:ext cx="2025650" cy="1549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no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171450" indent="-171450" algn="just" eaLnBrk="1" fontAlgn="auto" hangingPunct="1">
                <a:spcBef>
                  <a:spcPts val="0"/>
                </a:spcBef>
                <a:spcAft>
                  <a:spcPts val="0"/>
                </a:spcAft>
                <a:buFont typeface="Wingdings" panose="05000000000000000000" charset="0"/>
                <a:buChar char="l"/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 与核心人员进行一对一沟通，充分沟通加深彼此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了解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endParaRPr>
            </a:p>
            <a:p>
              <a:pPr marL="171450" indent="-171450" algn="just" eaLnBrk="1" fontAlgn="auto" hangingPunct="1">
                <a:spcBef>
                  <a:spcPts val="0"/>
                </a:spcBef>
                <a:spcAft>
                  <a:spcPts val="0"/>
                </a:spcAft>
                <a:buFont typeface="Wingdings" panose="05000000000000000000" charset="0"/>
                <a:buChar char="l"/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与门店所有员工进行一对一沟通，彼此了解建立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好感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9021252" y="2934435"/>
            <a:ext cx="2159049" cy="1838882"/>
            <a:chOff x="9021252" y="2934435"/>
            <a:chExt cx="2159049" cy="1838882"/>
          </a:xfrm>
        </p:grpSpPr>
        <p:sp>
          <p:nvSpPr>
            <p:cNvPr id="146" name="任意多边形 66"/>
            <p:cNvSpPr/>
            <p:nvPr/>
          </p:nvSpPr>
          <p:spPr bwMode="auto">
            <a:xfrm>
              <a:off x="9021252" y="2934435"/>
              <a:ext cx="2159049" cy="1782255"/>
            </a:xfrm>
            <a:custGeom>
              <a:avLst/>
              <a:gdLst>
                <a:gd name="connsiteX0" fmla="*/ 0 w 1729442"/>
                <a:gd name="connsiteY0" fmla="*/ 142643 h 1426428"/>
                <a:gd name="connsiteX1" fmla="*/ 142643 w 1729442"/>
                <a:gd name="connsiteY1" fmla="*/ 0 h 1426428"/>
                <a:gd name="connsiteX2" fmla="*/ 1586799 w 1729442"/>
                <a:gd name="connsiteY2" fmla="*/ 0 h 1426428"/>
                <a:gd name="connsiteX3" fmla="*/ 1729442 w 1729442"/>
                <a:gd name="connsiteY3" fmla="*/ 142643 h 1426428"/>
                <a:gd name="connsiteX4" fmla="*/ 1729442 w 1729442"/>
                <a:gd name="connsiteY4" fmla="*/ 1283785 h 1426428"/>
                <a:gd name="connsiteX5" fmla="*/ 1586799 w 1729442"/>
                <a:gd name="connsiteY5" fmla="*/ 1426428 h 1426428"/>
                <a:gd name="connsiteX6" fmla="*/ 142643 w 1729442"/>
                <a:gd name="connsiteY6" fmla="*/ 1426428 h 1426428"/>
                <a:gd name="connsiteX7" fmla="*/ 0 w 1729442"/>
                <a:gd name="connsiteY7" fmla="*/ 1283785 h 1426428"/>
                <a:gd name="connsiteX8" fmla="*/ 0 w 1729442"/>
                <a:gd name="connsiteY8" fmla="*/ 142643 h 1426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29442" h="1426428">
                  <a:moveTo>
                    <a:pt x="0" y="142643"/>
                  </a:moveTo>
                  <a:cubicBezTo>
                    <a:pt x="0" y="63863"/>
                    <a:pt x="63863" y="0"/>
                    <a:pt x="142643" y="0"/>
                  </a:cubicBezTo>
                  <a:lnTo>
                    <a:pt x="1586799" y="0"/>
                  </a:lnTo>
                  <a:cubicBezTo>
                    <a:pt x="1665579" y="0"/>
                    <a:pt x="1729442" y="63863"/>
                    <a:pt x="1729442" y="142643"/>
                  </a:cubicBezTo>
                  <a:lnTo>
                    <a:pt x="1729442" y="1283785"/>
                  </a:lnTo>
                  <a:cubicBezTo>
                    <a:pt x="1729442" y="1362565"/>
                    <a:pt x="1665579" y="1426428"/>
                    <a:pt x="1586799" y="1426428"/>
                  </a:cubicBezTo>
                  <a:lnTo>
                    <a:pt x="142643" y="1426428"/>
                  </a:lnTo>
                  <a:cubicBezTo>
                    <a:pt x="63863" y="1426428"/>
                    <a:pt x="0" y="1362565"/>
                    <a:pt x="0" y="1283785"/>
                  </a:cubicBezTo>
                  <a:lnTo>
                    <a:pt x="0" y="142643"/>
                  </a:lnTo>
                  <a:close/>
                </a:path>
              </a:pathLst>
            </a:cu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1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74" name="TextBox 11"/>
            <p:cNvSpPr txBox="1">
              <a:spLocks noChangeArrowheads="1"/>
            </p:cNvSpPr>
            <p:nvPr/>
          </p:nvSpPr>
          <p:spPr bwMode="auto">
            <a:xfrm flipH="1">
              <a:off x="9087827" y="3389652"/>
              <a:ext cx="2025897" cy="13836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171450" indent="-171450" algn="just" eaLnBrk="1" fontAlgn="auto" hangingPunct="1">
                <a:spcBef>
                  <a:spcPts val="0"/>
                </a:spcBef>
                <a:spcAft>
                  <a:spcPts val="0"/>
                </a:spcAft>
                <a:buFont typeface="Wingdings" panose="05000000000000000000" charset="0"/>
                <a:buChar char="l"/>
                <a:defRPr/>
              </a:pPr>
              <a:r>
                <a:rPr lang="zh-CN" altLang="en-US" sz="12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管己：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尽快调整自己的心态、习惯、沟通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思路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endParaRPr>
            </a:p>
            <a:p>
              <a:pPr marL="171450" indent="-171450" algn="just" eaLnBrk="1" fontAlgn="auto" hangingPunct="1">
                <a:spcBef>
                  <a:spcPts val="0"/>
                </a:spcBef>
                <a:spcAft>
                  <a:spcPts val="0"/>
                </a:spcAft>
                <a:buFont typeface="Wingdings" panose="05000000000000000000" charset="0"/>
                <a:buChar char="l"/>
                <a:defRPr/>
              </a:pPr>
              <a:r>
                <a:rPr lang="zh-CN" altLang="en-US" sz="12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管人：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重组团队，调整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分工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endParaRPr>
            </a:p>
            <a:p>
              <a:pPr marL="171450" indent="-171450" algn="just" eaLnBrk="1" fontAlgn="auto" hangingPunct="1">
                <a:spcBef>
                  <a:spcPts val="0"/>
                </a:spcBef>
                <a:spcAft>
                  <a:spcPts val="0"/>
                </a:spcAft>
                <a:buFont typeface="Wingdings" panose="05000000000000000000" charset="0"/>
                <a:buChar char="l"/>
                <a:defRPr/>
              </a:pPr>
              <a:r>
                <a:rPr lang="zh-CN" altLang="en-US" sz="12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管事：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制定初步月度工作计划并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落地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endParaRPr>
            </a:p>
            <a:p>
              <a:pPr marL="171450" indent="-171450" algn="just" eaLnBrk="1" fontAlgn="auto" hangingPunct="1">
                <a:spcBef>
                  <a:spcPts val="0"/>
                </a:spcBef>
                <a:spcAft>
                  <a:spcPts val="0"/>
                </a:spcAft>
                <a:buFont typeface="Wingdings" panose="05000000000000000000" charset="0"/>
                <a:buChar char="l"/>
                <a:defRPr/>
              </a:pP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762750" y="4446270"/>
            <a:ext cx="1920875" cy="649605"/>
            <a:chOff x="6762803" y="4335274"/>
            <a:chExt cx="1920954" cy="760520"/>
          </a:xfrm>
          <a:solidFill>
            <a:srgbClr val="154A9C"/>
          </a:solidFill>
        </p:grpSpPr>
        <p:sp>
          <p:nvSpPr>
            <p:cNvPr id="154" name="任意多边形 74"/>
            <p:cNvSpPr/>
            <p:nvPr/>
          </p:nvSpPr>
          <p:spPr bwMode="auto">
            <a:xfrm>
              <a:off x="6762803" y="4335274"/>
              <a:ext cx="1920954" cy="760520"/>
            </a:xfrm>
            <a:custGeom>
              <a:avLst/>
              <a:gdLst>
                <a:gd name="connsiteX0" fmla="*/ 0 w 1537282"/>
                <a:gd name="connsiteY0" fmla="*/ 61133 h 611326"/>
                <a:gd name="connsiteX1" fmla="*/ 61133 w 1537282"/>
                <a:gd name="connsiteY1" fmla="*/ 0 h 611326"/>
                <a:gd name="connsiteX2" fmla="*/ 1476149 w 1537282"/>
                <a:gd name="connsiteY2" fmla="*/ 0 h 611326"/>
                <a:gd name="connsiteX3" fmla="*/ 1537282 w 1537282"/>
                <a:gd name="connsiteY3" fmla="*/ 61133 h 611326"/>
                <a:gd name="connsiteX4" fmla="*/ 1537282 w 1537282"/>
                <a:gd name="connsiteY4" fmla="*/ 550193 h 611326"/>
                <a:gd name="connsiteX5" fmla="*/ 1476149 w 1537282"/>
                <a:gd name="connsiteY5" fmla="*/ 611326 h 611326"/>
                <a:gd name="connsiteX6" fmla="*/ 61133 w 1537282"/>
                <a:gd name="connsiteY6" fmla="*/ 611326 h 611326"/>
                <a:gd name="connsiteX7" fmla="*/ 0 w 1537282"/>
                <a:gd name="connsiteY7" fmla="*/ 550193 h 611326"/>
                <a:gd name="connsiteX8" fmla="*/ 0 w 1537282"/>
                <a:gd name="connsiteY8" fmla="*/ 61133 h 61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7282" h="611326">
                  <a:moveTo>
                    <a:pt x="0" y="61133"/>
                  </a:moveTo>
                  <a:cubicBezTo>
                    <a:pt x="0" y="27370"/>
                    <a:pt x="27370" y="0"/>
                    <a:pt x="61133" y="0"/>
                  </a:cubicBezTo>
                  <a:lnTo>
                    <a:pt x="1476149" y="0"/>
                  </a:lnTo>
                  <a:cubicBezTo>
                    <a:pt x="1509912" y="0"/>
                    <a:pt x="1537282" y="27370"/>
                    <a:pt x="1537282" y="61133"/>
                  </a:cubicBezTo>
                  <a:lnTo>
                    <a:pt x="1537282" y="550193"/>
                  </a:lnTo>
                  <a:cubicBezTo>
                    <a:pt x="1537282" y="583956"/>
                    <a:pt x="1509912" y="611326"/>
                    <a:pt x="1476149" y="611326"/>
                  </a:cubicBezTo>
                  <a:lnTo>
                    <a:pt x="61133" y="611326"/>
                  </a:lnTo>
                  <a:cubicBezTo>
                    <a:pt x="27370" y="611326"/>
                    <a:pt x="0" y="583956"/>
                    <a:pt x="0" y="550193"/>
                  </a:cubicBezTo>
                  <a:lnTo>
                    <a:pt x="0" y="6113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70" name="TextBox 70"/>
            <p:cNvSpPr txBox="1"/>
            <p:nvPr/>
          </p:nvSpPr>
          <p:spPr bwMode="auto">
            <a:xfrm>
              <a:off x="6831386" y="4428201"/>
              <a:ext cx="1783788" cy="54344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no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1400" b="0" spc="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>
                <a:defRPr/>
              </a:pPr>
              <a:r>
                <a:rPr lang="zh-CN" altLang="en-US" sz="2000" b="1" dirty="0">
                  <a:solidFill>
                    <a:schemeClr val="bg1"/>
                  </a:solidFill>
                </a:rPr>
                <a:t>一对一</a:t>
              </a:r>
              <a:r>
                <a:rPr lang="zh-CN" altLang="en-US" sz="2000" b="1" dirty="0">
                  <a:solidFill>
                    <a:schemeClr val="bg1"/>
                  </a:solidFill>
                </a:rPr>
                <a:t>沟通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502068" y="2553018"/>
            <a:ext cx="1918641" cy="765146"/>
            <a:chOff x="9502068" y="2553018"/>
            <a:chExt cx="1918641" cy="765146"/>
          </a:xfrm>
          <a:solidFill>
            <a:schemeClr val="accent4"/>
          </a:solidFill>
        </p:grpSpPr>
        <p:sp>
          <p:nvSpPr>
            <p:cNvPr id="159" name="任意多边形 79"/>
            <p:cNvSpPr/>
            <p:nvPr/>
          </p:nvSpPr>
          <p:spPr bwMode="auto">
            <a:xfrm>
              <a:off x="9502068" y="2553018"/>
              <a:ext cx="1918641" cy="765146"/>
            </a:xfrm>
            <a:custGeom>
              <a:avLst/>
              <a:gdLst>
                <a:gd name="connsiteX0" fmla="*/ 0 w 1537282"/>
                <a:gd name="connsiteY0" fmla="*/ 61133 h 611326"/>
                <a:gd name="connsiteX1" fmla="*/ 61133 w 1537282"/>
                <a:gd name="connsiteY1" fmla="*/ 0 h 611326"/>
                <a:gd name="connsiteX2" fmla="*/ 1476149 w 1537282"/>
                <a:gd name="connsiteY2" fmla="*/ 0 h 611326"/>
                <a:gd name="connsiteX3" fmla="*/ 1537282 w 1537282"/>
                <a:gd name="connsiteY3" fmla="*/ 61133 h 611326"/>
                <a:gd name="connsiteX4" fmla="*/ 1537282 w 1537282"/>
                <a:gd name="connsiteY4" fmla="*/ 550193 h 611326"/>
                <a:gd name="connsiteX5" fmla="*/ 1476149 w 1537282"/>
                <a:gd name="connsiteY5" fmla="*/ 611326 h 611326"/>
                <a:gd name="connsiteX6" fmla="*/ 61133 w 1537282"/>
                <a:gd name="connsiteY6" fmla="*/ 611326 h 611326"/>
                <a:gd name="connsiteX7" fmla="*/ 0 w 1537282"/>
                <a:gd name="connsiteY7" fmla="*/ 550193 h 611326"/>
                <a:gd name="connsiteX8" fmla="*/ 0 w 1537282"/>
                <a:gd name="connsiteY8" fmla="*/ 61133 h 61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7282" h="611326">
                  <a:moveTo>
                    <a:pt x="0" y="61133"/>
                  </a:moveTo>
                  <a:cubicBezTo>
                    <a:pt x="0" y="27370"/>
                    <a:pt x="27370" y="0"/>
                    <a:pt x="61133" y="0"/>
                  </a:cubicBezTo>
                  <a:lnTo>
                    <a:pt x="1476149" y="0"/>
                  </a:lnTo>
                  <a:cubicBezTo>
                    <a:pt x="1509912" y="0"/>
                    <a:pt x="1537282" y="27370"/>
                    <a:pt x="1537282" y="61133"/>
                  </a:cubicBezTo>
                  <a:lnTo>
                    <a:pt x="1537282" y="550193"/>
                  </a:lnTo>
                  <a:cubicBezTo>
                    <a:pt x="1537282" y="583956"/>
                    <a:pt x="1509912" y="611326"/>
                    <a:pt x="1476149" y="611326"/>
                  </a:cubicBezTo>
                  <a:lnTo>
                    <a:pt x="61133" y="611326"/>
                  </a:lnTo>
                  <a:cubicBezTo>
                    <a:pt x="27370" y="611326"/>
                    <a:pt x="0" y="583956"/>
                    <a:pt x="0" y="550193"/>
                  </a:cubicBezTo>
                  <a:lnTo>
                    <a:pt x="0" y="6113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71" name="TextBox 70"/>
            <p:cNvSpPr txBox="1"/>
            <p:nvPr/>
          </p:nvSpPr>
          <p:spPr bwMode="auto">
            <a:xfrm>
              <a:off x="9675997" y="2721746"/>
              <a:ext cx="1574211" cy="398780"/>
            </a:xfrm>
            <a:prstGeom prst="rect">
              <a:avLst/>
            </a:prstGeom>
            <a:grpFill/>
            <a:effectLst/>
          </p:spPr>
          <p:txBody>
            <a:bodyPr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1400" b="0" spc="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>
                <a:defRPr/>
              </a:pPr>
              <a:r>
                <a:rPr lang="zh-CN" altLang="en-US" sz="2000" b="1" dirty="0">
                  <a:solidFill>
                    <a:schemeClr val="bg1"/>
                  </a:solidFill>
                </a:rPr>
                <a:t>调整</a:t>
              </a:r>
              <a:r>
                <a:rPr lang="zh-CN" altLang="en-US" sz="2000" b="1" dirty="0">
                  <a:solidFill>
                    <a:schemeClr val="bg1"/>
                  </a:solidFill>
                </a:rPr>
                <a:t>自己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bldLvl="0" animBg="1"/>
      <p:bldP spid="150" grpId="1" animBg="1"/>
      <p:bldP spid="151" grpId="0" bldLvl="0" animBg="1"/>
      <p:bldP spid="152" grpId="0" bldLvl="0" animBg="1"/>
      <p:bldP spid="151" grpId="1" animBg="1"/>
      <p:bldP spid="152" grpId="1" animBg="1"/>
      <p:bldP spid="167" grpId="0" bldLvl="0" animBg="1"/>
      <p:bldP spid="168" grpId="0" bldLvl="0" animBg="1"/>
      <p:bldP spid="167" grpId="1" animBg="1"/>
      <p:bldP spid="168" grpId="1" animBg="1"/>
      <p:bldP spid="156" grpId="0" bldLvl="0" animBg="1"/>
      <p:bldP spid="157" grpId="0" bldLvl="0" animBg="1"/>
      <p:bldP spid="161" grpId="0" bldLvl="0" animBg="1"/>
      <p:bldP spid="162" grpId="0" bldLvl="0" animBg="1"/>
      <p:bldP spid="156" grpId="1" animBg="1"/>
      <p:bldP spid="157" grpId="1" animBg="1"/>
      <p:bldP spid="161" grpId="1" animBg="1"/>
      <p:bldP spid="16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sz="2800" b="1">
                <a:latin typeface="微软雅黑" panose="020B0503020204020204" pitchFamily="34" charset="-122"/>
              </a:rPr>
              <a:t>如何快速进入角色</a:t>
            </a:r>
            <a:endParaRPr lang="zh-CN" sz="2800" b="1">
              <a:latin typeface="微软雅黑" panose="020B0503020204020204" pitchFamily="34" charset="-122"/>
            </a:endParaRPr>
          </a:p>
        </p:txBody>
      </p:sp>
      <p:sp>
        <p:nvSpPr>
          <p:cNvPr id="3" name="图形 3"/>
          <p:cNvSpPr/>
          <p:nvPr>
            <p:custDataLst>
              <p:tags r:id="rId1"/>
            </p:custDataLst>
          </p:nvPr>
        </p:nvSpPr>
        <p:spPr>
          <a:xfrm>
            <a:off x="593408" y="1337310"/>
            <a:ext cx="5656607" cy="4934454"/>
          </a:xfrm>
          <a:custGeom>
            <a:avLst/>
            <a:gdLst>
              <a:gd name="connsiteX0" fmla="*/ 0 w 5656607"/>
              <a:gd name="connsiteY0" fmla="*/ 298931 h 4934454"/>
              <a:gd name="connsiteX1" fmla="*/ 0 w 5656607"/>
              <a:gd name="connsiteY1" fmla="*/ 4635524 h 4934454"/>
              <a:gd name="connsiteX2" fmla="*/ 312591 w 5656607"/>
              <a:gd name="connsiteY2" fmla="*/ 4934455 h 4934454"/>
              <a:gd name="connsiteX3" fmla="*/ 4364164 w 5656607"/>
              <a:gd name="connsiteY3" fmla="*/ 4934455 h 4934454"/>
              <a:gd name="connsiteX4" fmla="*/ 4669709 w 5656607"/>
              <a:gd name="connsiteY4" fmla="*/ 4698646 h 4934454"/>
              <a:gd name="connsiteX5" fmla="*/ 5649438 w 5656607"/>
              <a:gd name="connsiteY5" fmla="*/ 362058 h 4934454"/>
              <a:gd name="connsiteX6" fmla="*/ 5343892 w 5656607"/>
              <a:gd name="connsiteY6" fmla="*/ 0 h 4934454"/>
              <a:gd name="connsiteX7" fmla="*/ 312591 w 5656607"/>
              <a:gd name="connsiteY7" fmla="*/ 0 h 4934454"/>
              <a:gd name="connsiteX8" fmla="*/ 0 w 5656607"/>
              <a:gd name="connsiteY8" fmla="*/ 298931 h 493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rgbClr val="376FFF"/>
          </a:solidFill>
          <a:ln w="6243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sp>
        <p:nvSpPr>
          <p:cNvPr id="6" name="图形 1"/>
          <p:cNvSpPr/>
          <p:nvPr>
            <p:custDataLst>
              <p:tags r:id="rId2"/>
            </p:custDataLst>
          </p:nvPr>
        </p:nvSpPr>
        <p:spPr>
          <a:xfrm flipH="1" flipV="1">
            <a:off x="5661343" y="1337310"/>
            <a:ext cx="5656607" cy="4934454"/>
          </a:xfrm>
          <a:custGeom>
            <a:avLst/>
            <a:gdLst>
              <a:gd name="connsiteX0" fmla="*/ 0 w 5656607"/>
              <a:gd name="connsiteY0" fmla="*/ 298931 h 4934454"/>
              <a:gd name="connsiteX1" fmla="*/ 0 w 5656607"/>
              <a:gd name="connsiteY1" fmla="*/ 4635524 h 4934454"/>
              <a:gd name="connsiteX2" fmla="*/ 312591 w 5656607"/>
              <a:gd name="connsiteY2" fmla="*/ 4934455 h 4934454"/>
              <a:gd name="connsiteX3" fmla="*/ 4364164 w 5656607"/>
              <a:gd name="connsiteY3" fmla="*/ 4934455 h 4934454"/>
              <a:gd name="connsiteX4" fmla="*/ 4669709 w 5656607"/>
              <a:gd name="connsiteY4" fmla="*/ 4698646 h 4934454"/>
              <a:gd name="connsiteX5" fmla="*/ 5649438 w 5656607"/>
              <a:gd name="connsiteY5" fmla="*/ 362058 h 4934454"/>
              <a:gd name="connsiteX6" fmla="*/ 5343892 w 5656607"/>
              <a:gd name="connsiteY6" fmla="*/ 0 h 4934454"/>
              <a:gd name="connsiteX7" fmla="*/ 312591 w 5656607"/>
              <a:gd name="connsiteY7" fmla="*/ 0 h 4934454"/>
              <a:gd name="connsiteX8" fmla="*/ 0 w 5656607"/>
              <a:gd name="connsiteY8" fmla="*/ 298931 h 493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rgbClr val="000000">
              <a:lumMod val="40000"/>
              <a:lumOff val="60000"/>
              <a:alpha val="15000"/>
            </a:srgbClr>
          </a:solidFill>
          <a:ln w="6243" cap="flat">
            <a:noFill/>
            <a:prstDash val="solid"/>
            <a:miter/>
          </a:ln>
        </p:spPr>
        <p:txBody>
          <a:bodyPr rtlCol="0" anchor="ctr"/>
          <a:p>
            <a:endParaRPr lang="zh-CN" altLang="en-US" dirty="0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959803" y="2722880"/>
            <a:ext cx="4395629" cy="31794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日常工作中去了解</a:t>
            </a:r>
            <a:endParaRPr lang="zh-CN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从言语面来了解</a:t>
            </a:r>
            <a:endParaRPr lang="zh-CN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从行动面来了解</a:t>
            </a:r>
            <a:endParaRPr lang="zh-CN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从成果面来了解</a:t>
            </a:r>
            <a:endParaRPr lang="zh-CN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现场走动</a:t>
            </a:r>
            <a:endParaRPr lang="zh-CN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一对一沟通</a:t>
            </a:r>
            <a:endParaRPr lang="zh-CN" b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侧面了解</a:t>
            </a:r>
            <a:endParaRPr lang="zh-CN" altLang="en-US" dirty="0">
              <a:ln>
                <a:noFill/>
                <a:prstDash val="sysDot"/>
              </a:ln>
              <a:solidFill>
                <a:srgbClr val="FFFFF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6616383" y="2722880"/>
            <a:ext cx="4395629" cy="31794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 sz="160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1</a:t>
            </a:r>
            <a:r>
              <a:rPr lang="zh-CN" altLang="en-US" sz="160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、做好准备，精神面貌，门店情况、人员情况、会议内容等；</a:t>
            </a:r>
            <a:endParaRPr lang="zh-CN" altLang="en-US" sz="1600">
              <a:solidFill>
                <a:schemeClr val="tx1"/>
              </a:solidFill>
              <a:latin typeface="+mj-ea"/>
              <a:ea typeface="+mj-ea"/>
            </a:endParaRPr>
          </a:p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 sz="160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2</a:t>
            </a:r>
            <a:r>
              <a:rPr lang="zh-CN" altLang="en-US" sz="160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、选择合适的时机， 确保人人参与；</a:t>
            </a:r>
            <a:endParaRPr lang="zh-CN" altLang="en-US" sz="1600">
              <a:solidFill>
                <a:schemeClr val="tx1"/>
              </a:solidFill>
              <a:latin typeface="+mj-ea"/>
              <a:ea typeface="+mj-ea"/>
            </a:endParaRPr>
          </a:p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 sz="160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3</a:t>
            </a:r>
            <a:r>
              <a:rPr lang="zh-CN" altLang="en-US" sz="160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、主动和大家问好！做自我介绍，让会议氛围轻松而不失正式；</a:t>
            </a:r>
            <a:endParaRPr lang="zh-CN" altLang="en-US" sz="1600">
              <a:solidFill>
                <a:schemeClr val="tx1"/>
              </a:solidFill>
              <a:latin typeface="+mj-ea"/>
              <a:ea typeface="+mj-ea"/>
            </a:endParaRPr>
          </a:p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 sz="160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4</a:t>
            </a:r>
            <a:r>
              <a:rPr lang="zh-CN" altLang="en-US" sz="160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、讲明会议的目的和内容；</a:t>
            </a:r>
            <a:endParaRPr lang="zh-CN" altLang="en-US" sz="1600">
              <a:solidFill>
                <a:schemeClr val="tx1"/>
              </a:solidFill>
              <a:latin typeface="+mj-ea"/>
              <a:ea typeface="+mj-ea"/>
            </a:endParaRPr>
          </a:p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 sz="160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5</a:t>
            </a:r>
            <a:r>
              <a:rPr lang="zh-CN" altLang="en-US" sz="160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、员工自我介绍，加深了解；</a:t>
            </a:r>
            <a:endParaRPr lang="zh-CN" altLang="en-US" sz="1600">
              <a:solidFill>
                <a:schemeClr val="tx1"/>
              </a:solidFill>
              <a:latin typeface="+mj-ea"/>
              <a:ea typeface="+mj-ea"/>
            </a:endParaRPr>
          </a:p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 sz="160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5</a:t>
            </a:r>
            <a:r>
              <a:rPr lang="zh-CN" altLang="en-US" sz="160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、表明态度和对团队的期待；</a:t>
            </a:r>
            <a:endParaRPr lang="zh-CN" altLang="en-US" sz="1600">
              <a:solidFill>
                <a:schemeClr val="tx1"/>
              </a:solidFill>
              <a:latin typeface="+mj-ea"/>
              <a:ea typeface="+mj-ea"/>
            </a:endParaRPr>
          </a:p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 sz="160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6</a:t>
            </a:r>
            <a:r>
              <a:rPr lang="zh-CN" altLang="en-US" sz="160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、和团队达成共识</a:t>
            </a:r>
            <a:r>
              <a:rPr lang="zh-CN" altLang="en-US">
                <a:solidFill>
                  <a:schemeClr val="tx1"/>
                </a:solidFill>
                <a:latin typeface="+mj-ea"/>
                <a:ea typeface="+mj-ea"/>
                <a:sym typeface="+mn-ea"/>
              </a:rPr>
              <a:t>；</a:t>
            </a:r>
            <a:endParaRPr lang="zh-CN" altLang="en-US">
              <a:solidFill>
                <a:schemeClr val="tx1"/>
              </a:solidFill>
              <a:latin typeface="+mj-ea"/>
              <a:ea typeface="+mj-ea"/>
            </a:endParaRPr>
          </a:p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ln>
                <a:noFill/>
                <a:prstDash val="sysDot"/>
              </a:ln>
              <a:solidFill>
                <a:schemeClr val="tx1"/>
              </a:solidFill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pic>
        <p:nvPicPr>
          <p:cNvPr id="10" name="图形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16793" y="1844040"/>
            <a:ext cx="540512" cy="723455"/>
          </a:xfrm>
          <a:prstGeom prst="rect">
            <a:avLst/>
          </a:prstGeom>
        </p:spPr>
      </p:pic>
      <p:sp>
        <p:nvSpPr>
          <p:cNvPr id="44" name="标题"/>
          <p:cNvSpPr txBox="1"/>
          <p:nvPr>
            <p:custDataLst>
              <p:tags r:id="rId8"/>
            </p:custDataLst>
          </p:nvPr>
        </p:nvSpPr>
        <p:spPr>
          <a:xfrm>
            <a:off x="959803" y="1726565"/>
            <a:ext cx="3807460" cy="9582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2800" b="1" spc="300" dirty="0">
                <a:solidFill>
                  <a:srgbClr val="FFFFFF"/>
                </a:solidFill>
                <a:latin typeface="微软雅黑" panose="020B0503020204020204" pitchFamily="34" charset="-122"/>
              </a:rPr>
              <a:t>日常工作中了解</a:t>
            </a:r>
            <a:endParaRPr lang="zh-CN" altLang="en-US" sz="2800" b="1" spc="300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"/>
          <p:cNvSpPr txBox="1"/>
          <p:nvPr>
            <p:custDataLst>
              <p:tags r:id="rId9"/>
            </p:custDataLst>
          </p:nvPr>
        </p:nvSpPr>
        <p:spPr>
          <a:xfrm>
            <a:off x="7205028" y="1726565"/>
            <a:ext cx="3807460" cy="9582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r"/>
            <a:r>
              <a:rPr lang="zh-CN" altLang="en-US" sz="2800" b="1" spc="300" dirty="0">
                <a:solidFill>
                  <a:srgbClr val="376FFF"/>
                </a:solidFill>
                <a:latin typeface="微软雅黑" panose="020B0503020204020204" pitchFamily="34" charset="-122"/>
              </a:rPr>
              <a:t>开一次成功的见面会</a:t>
            </a:r>
            <a:endParaRPr lang="zh-CN" altLang="en-US" sz="2800" b="1" spc="300" dirty="0">
              <a:solidFill>
                <a:srgbClr val="376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" name="图片 4" descr="333438303937363b333438313037303bb6a8cebbb2fac6b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6383" y="1840230"/>
            <a:ext cx="675640" cy="675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01625" y="2486611"/>
            <a:ext cx="101917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6600" b="1" dirty="0">
                <a:ln w="0"/>
                <a:solidFill>
                  <a:srgbClr val="F385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开一场成功的见面会</a:t>
            </a:r>
            <a:endParaRPr lang="zh-CN" sz="6600" b="1" dirty="0">
              <a:ln w="0"/>
              <a:solidFill>
                <a:srgbClr val="F3851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179070" y="6009005"/>
            <a:ext cx="4234815" cy="558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2025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zh-CN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陈晓腾</a:t>
            </a:r>
            <a:endParaRPr lang="zh-CN" altLang="en-US" sz="2000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sz="2800" b="1">
                <a:latin typeface="微软雅黑" panose="020B0503020204020204" pitchFamily="34" charset="-122"/>
              </a:rPr>
              <a:t>开一场成功的见面会</a:t>
            </a:r>
            <a:endParaRPr lang="zh-CN" sz="2800" b="1">
              <a:latin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>
            <p:custDataLst>
              <p:tags r:id="rId1"/>
            </p:custDataLst>
          </p:nvPr>
        </p:nvSpPr>
        <p:spPr>
          <a:xfrm>
            <a:off x="10144760" y="2149158"/>
            <a:ext cx="1050925" cy="1050925"/>
          </a:xfrm>
          <a:prstGeom prst="ellipse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31" name="椭圆 30"/>
          <p:cNvSpPr/>
          <p:nvPr>
            <p:custDataLst>
              <p:tags r:id="rId2"/>
            </p:custDataLst>
          </p:nvPr>
        </p:nvSpPr>
        <p:spPr>
          <a:xfrm>
            <a:off x="4333240" y="2021523"/>
            <a:ext cx="1050925" cy="1050925"/>
          </a:xfrm>
          <a:prstGeom prst="ellipse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4117340" y="4360863"/>
            <a:ext cx="1501775" cy="1501775"/>
          </a:xfrm>
          <a:prstGeom prst="ellipse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4"/>
            </p:custDataLst>
          </p:nvPr>
        </p:nvSpPr>
        <p:spPr>
          <a:xfrm>
            <a:off x="7246620" y="2513648"/>
            <a:ext cx="4249420" cy="4249420"/>
          </a:xfrm>
          <a:prstGeom prst="ellipse">
            <a:avLst/>
          </a:prstGeom>
          <a:gradFill>
            <a:gsLst>
              <a:gs pos="0">
                <a:schemeClr val="accent1">
                  <a:lumMod val="10000"/>
                  <a:lumOff val="90000"/>
                  <a:alpha val="100000"/>
                </a:schemeClr>
              </a:gs>
              <a:gs pos="74000">
                <a:schemeClr val="accent1">
                  <a:lumMod val="65000"/>
                  <a:lumOff val="35000"/>
                  <a:alpha val="100000"/>
                </a:schemeClr>
              </a:gs>
              <a:gs pos="8300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lumMod val="80000"/>
                  <a:lumOff val="2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10" name="椭圆 9"/>
          <p:cNvSpPr/>
          <p:nvPr>
            <p:custDataLst>
              <p:tags r:id="rId5"/>
            </p:custDataLst>
          </p:nvPr>
        </p:nvSpPr>
        <p:spPr>
          <a:xfrm>
            <a:off x="695960" y="2339023"/>
            <a:ext cx="3810000" cy="3810000"/>
          </a:xfrm>
          <a:prstGeom prst="ellipse">
            <a:avLst/>
          </a:prstGeom>
          <a:gradFill>
            <a:gsLst>
              <a:gs pos="0">
                <a:schemeClr val="accent1">
                  <a:lumMod val="10000"/>
                  <a:lumOff val="90000"/>
                  <a:alpha val="100000"/>
                </a:schemeClr>
              </a:gs>
              <a:gs pos="74000">
                <a:schemeClr val="accent1">
                  <a:alpha val="100000"/>
                </a:schemeClr>
              </a:gs>
              <a:gs pos="83000">
                <a:schemeClr val="accent1">
                  <a:lumMod val="90000"/>
                  <a:alpha val="100000"/>
                </a:schemeClr>
              </a:gs>
              <a:gs pos="100000">
                <a:schemeClr val="accent1">
                  <a:lumMod val="9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13" name="正文"/>
          <p:cNvSpPr txBox="1"/>
          <p:nvPr>
            <p:custDataLst>
              <p:tags r:id="rId6"/>
            </p:custDataLst>
          </p:nvPr>
        </p:nvSpPr>
        <p:spPr>
          <a:xfrm>
            <a:off x="1085215" y="4405948"/>
            <a:ext cx="3032125" cy="8763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30000"/>
              </a:lnSpc>
            </a:pPr>
            <a:r>
              <a:rPr lang="zh-CN" altLang="en-US" spc="150" dirty="0">
                <a:solidFill>
                  <a:srgbClr val="FFFFFF"/>
                </a:solidFill>
                <a:latin typeface="+mn-ea"/>
                <a:sym typeface="+mn-ea"/>
              </a:rPr>
              <a:t>更多挖掘伙伴优点</a:t>
            </a:r>
            <a:endParaRPr lang="zh-CN" altLang="en-US" spc="150" dirty="0">
              <a:solidFill>
                <a:srgbClr val="FFFFFF"/>
              </a:solidFill>
              <a:latin typeface="+mn-ea"/>
              <a:sym typeface="+mn-ea"/>
            </a:endParaRPr>
          </a:p>
          <a:p>
            <a:pPr indent="0" algn="ctr" fontAlgn="auto">
              <a:lnSpc>
                <a:spcPct val="130000"/>
              </a:lnSpc>
            </a:pPr>
            <a:r>
              <a:rPr lang="zh-CN" altLang="en-US" spc="150" dirty="0">
                <a:solidFill>
                  <a:srgbClr val="FFFFFF"/>
                </a:solidFill>
                <a:latin typeface="+mn-ea"/>
                <a:sym typeface="+mn-ea"/>
              </a:rPr>
              <a:t>也让伙伴了解你</a:t>
            </a:r>
            <a:endParaRPr lang="zh-CN" altLang="en-US" spc="150" dirty="0">
              <a:solidFill>
                <a:srgbClr val="FFFFFF"/>
              </a:solidFill>
              <a:latin typeface="+mn-ea"/>
              <a:sym typeface="+mn-ea"/>
            </a:endParaRPr>
          </a:p>
        </p:txBody>
      </p:sp>
      <p:sp>
        <p:nvSpPr>
          <p:cNvPr id="14" name="标题"/>
          <p:cNvSpPr txBox="1"/>
          <p:nvPr>
            <p:custDataLst>
              <p:tags r:id="rId7"/>
            </p:custDataLst>
          </p:nvPr>
        </p:nvSpPr>
        <p:spPr>
          <a:xfrm>
            <a:off x="1151255" y="3264218"/>
            <a:ext cx="2900680" cy="102743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p>
            <a:pPr algn="ctr"/>
            <a:r>
              <a:rPr lang="zh-CN" altLang="en-US" sz="5400" b="1" spc="300" dirty="0">
                <a:solidFill>
                  <a:srgbClr val="FFFFFF"/>
                </a:solidFill>
                <a:latin typeface="+mn-ea"/>
              </a:rPr>
              <a:t>增加了解</a:t>
            </a:r>
            <a:endParaRPr lang="zh-CN" altLang="en-US" sz="5400" b="1" spc="3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0" name="正文"/>
          <p:cNvSpPr txBox="1"/>
          <p:nvPr>
            <p:custDataLst>
              <p:tags r:id="rId8"/>
            </p:custDataLst>
          </p:nvPr>
        </p:nvSpPr>
        <p:spPr>
          <a:xfrm>
            <a:off x="7749540" y="4870768"/>
            <a:ext cx="3244215" cy="8985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30000"/>
              </a:lnSpc>
            </a:pPr>
            <a:r>
              <a:rPr lang="zh-CN" altLang="en-US" spc="150" dirty="0">
                <a:solidFill>
                  <a:srgbClr val="FFFFFF"/>
                </a:solidFill>
                <a:latin typeface="+mn-ea"/>
                <a:sym typeface="+mn-ea"/>
              </a:rPr>
              <a:t>表明关注大家的需求，</a:t>
            </a:r>
            <a:endParaRPr lang="zh-CN" altLang="en-US" spc="150" dirty="0">
              <a:solidFill>
                <a:srgbClr val="FFFFFF"/>
              </a:solidFill>
              <a:latin typeface="+mn-ea"/>
              <a:sym typeface="+mn-ea"/>
            </a:endParaRPr>
          </a:p>
          <a:p>
            <a:pPr indent="0" algn="ctr" fontAlgn="auto">
              <a:lnSpc>
                <a:spcPct val="130000"/>
              </a:lnSpc>
            </a:pPr>
            <a:r>
              <a:rPr lang="zh-CN" altLang="en-US" spc="150" dirty="0">
                <a:solidFill>
                  <a:srgbClr val="FFFFFF"/>
                </a:solidFill>
                <a:latin typeface="+mn-ea"/>
                <a:sym typeface="+mn-ea"/>
              </a:rPr>
              <a:t>尽力解决</a:t>
            </a:r>
            <a:endParaRPr lang="zh-CN" altLang="en-US" spc="150" dirty="0">
              <a:solidFill>
                <a:srgbClr val="FFFFFF"/>
              </a:solidFill>
              <a:latin typeface="+mn-ea"/>
              <a:sym typeface="+mn-ea"/>
            </a:endParaRPr>
          </a:p>
        </p:txBody>
      </p:sp>
      <p:sp>
        <p:nvSpPr>
          <p:cNvPr id="21" name="标题"/>
          <p:cNvSpPr txBox="1"/>
          <p:nvPr>
            <p:custDataLst>
              <p:tags r:id="rId9"/>
            </p:custDataLst>
          </p:nvPr>
        </p:nvSpPr>
        <p:spPr>
          <a:xfrm>
            <a:off x="7698740" y="3760153"/>
            <a:ext cx="3345180" cy="94742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p>
            <a:pPr algn="ctr"/>
            <a:r>
              <a:rPr lang="zh-CN" altLang="en-US" sz="5400" b="1" spc="300" dirty="0">
                <a:solidFill>
                  <a:srgbClr val="FFFFFF"/>
                </a:solidFill>
                <a:latin typeface="+mn-ea"/>
              </a:rPr>
              <a:t>收集需求</a:t>
            </a:r>
            <a:endParaRPr lang="zh-CN" altLang="en-US" sz="5400" b="1" spc="3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742180" y="2339023"/>
            <a:ext cx="3111500" cy="3111500"/>
          </a:xfrm>
          <a:prstGeom prst="ellipse">
            <a:avLst/>
          </a:prstGeom>
          <a:gradFill>
            <a:gsLst>
              <a:gs pos="0">
                <a:schemeClr val="accent2">
                  <a:lumMod val="10000"/>
                  <a:lumOff val="90000"/>
                  <a:alpha val="100000"/>
                </a:schemeClr>
              </a:gs>
              <a:gs pos="74000">
                <a:schemeClr val="accent2">
                  <a:lumMod val="55000"/>
                  <a:lumOff val="45000"/>
                  <a:alpha val="100000"/>
                </a:schemeClr>
              </a:gs>
              <a:gs pos="83000">
                <a:schemeClr val="accent2">
                  <a:lumMod val="70000"/>
                  <a:lumOff val="30000"/>
                  <a:alpha val="100000"/>
                </a:schemeClr>
              </a:gs>
              <a:gs pos="100000">
                <a:schemeClr val="accent2">
                  <a:lumMod val="70000"/>
                  <a:lumOff val="3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18" name="正文"/>
          <p:cNvSpPr txBox="1"/>
          <p:nvPr>
            <p:custDataLst>
              <p:tags r:id="rId11"/>
            </p:custDataLst>
          </p:nvPr>
        </p:nvSpPr>
        <p:spPr>
          <a:xfrm>
            <a:off x="4914900" y="4111308"/>
            <a:ext cx="2766695" cy="872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30000"/>
              </a:lnSpc>
            </a:pPr>
            <a:r>
              <a:rPr lang="zh-CN" altLang="en-US" spc="150" dirty="0">
                <a:solidFill>
                  <a:schemeClr val="accent2">
                    <a:lumMod val="75000"/>
                  </a:schemeClr>
                </a:solidFill>
                <a:latin typeface="+mn-ea"/>
                <a:sym typeface="+mn-ea"/>
              </a:rPr>
              <a:t>合作方式，工作方向</a:t>
            </a:r>
            <a:endParaRPr lang="zh-CN" altLang="en-US" spc="150" dirty="0">
              <a:solidFill>
                <a:schemeClr val="accent2">
                  <a:lumMod val="7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32" name="椭圆 31"/>
          <p:cNvSpPr/>
          <p:nvPr>
            <p:custDataLst>
              <p:tags r:id="rId12"/>
            </p:custDataLst>
          </p:nvPr>
        </p:nvSpPr>
        <p:spPr>
          <a:xfrm>
            <a:off x="7353300" y="5862638"/>
            <a:ext cx="578485" cy="578485"/>
          </a:xfrm>
          <a:prstGeom prst="ellipse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6" name="椭圆 5"/>
          <p:cNvSpPr/>
          <p:nvPr>
            <p:custDataLst>
              <p:tags r:id="rId13"/>
            </p:custDataLst>
          </p:nvPr>
        </p:nvSpPr>
        <p:spPr>
          <a:xfrm>
            <a:off x="695960" y="6204903"/>
            <a:ext cx="578485" cy="578485"/>
          </a:xfrm>
          <a:prstGeom prst="ellipse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4"/>
            </p:custDataLst>
          </p:nvPr>
        </p:nvSpPr>
        <p:spPr>
          <a:xfrm>
            <a:off x="4872355" y="2989263"/>
            <a:ext cx="2851785" cy="1097915"/>
          </a:xfrm>
          <a:prstGeom prst="rect">
            <a:avLst/>
          </a:prstGeom>
          <a:noFill/>
        </p:spPr>
        <p:txBody>
          <a:bodyPr wrap="none" rtlCol="0" anchor="b" anchorCtr="0">
            <a:normAutofit/>
          </a:bodyPr>
          <a:p>
            <a:pPr algn="ctr"/>
            <a:r>
              <a:rPr lang="zh-CN" altLang="en-US" sz="5400" b="1" spc="300" dirty="0">
                <a:solidFill>
                  <a:schemeClr val="accent2">
                    <a:lumMod val="75000"/>
                  </a:schemeClr>
                </a:solidFill>
                <a:latin typeface="+mn-ea"/>
                <a:sym typeface="+mn-ea"/>
              </a:rPr>
              <a:t>达成共识</a:t>
            </a:r>
            <a:endParaRPr lang="zh-CN" altLang="en-US" sz="5400" b="1" spc="300" dirty="0">
              <a:solidFill>
                <a:schemeClr val="accent2">
                  <a:lumMod val="7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" name="标题 1"/>
          <p:cNvSpPr txBox="1">
            <a:spLocks noGrp="1"/>
          </p:cNvSpPr>
          <p:nvPr/>
        </p:nvSpPr>
        <p:spPr>
          <a:xfrm>
            <a:off x="4568190" y="929005"/>
            <a:ext cx="3055620" cy="88836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sz="2800" b="1">
                <a:latin typeface="微软雅黑" panose="020B0503020204020204" pitchFamily="34" charset="-122"/>
              </a:rPr>
              <a:t>需要完成</a:t>
            </a:r>
            <a:r>
              <a:rPr lang="en-US" altLang="zh-CN" sz="2800" b="1">
                <a:latin typeface="微软雅黑" panose="020B0503020204020204" pitchFamily="34" charset="-122"/>
              </a:rPr>
              <a:t>3</a:t>
            </a:r>
            <a:r>
              <a:rPr lang="zh-CN" altLang="en-US" sz="2800" b="1">
                <a:latin typeface="微软雅黑" panose="020B0503020204020204" pitchFamily="34" charset="-122"/>
              </a:rPr>
              <a:t>个任务</a:t>
            </a:r>
            <a:endParaRPr lang="zh-CN" altLang="en-US" sz="2800" b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sz="2800" b="1">
                <a:latin typeface="微软雅黑" panose="020B0503020204020204" pitchFamily="34" charset="-122"/>
              </a:rPr>
              <a:t>开一场成功的见面会</a:t>
            </a:r>
            <a:endParaRPr lang="zh-CN" sz="2800" b="1">
              <a:latin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38125" y="1562100"/>
          <a:ext cx="11711940" cy="5257800"/>
        </p:xfrm>
        <a:graphic>
          <a:graphicData uri="http://schemas.openxmlformats.org/drawingml/2006/table">
            <a:tbl>
              <a:tblPr firstRow="1" bandRow="1">
                <a:tableStyleId>{5D1C2AE3-6401-41AF-9A4E-065CF06627EB}</a:tableStyleId>
              </a:tblPr>
              <a:tblGrid>
                <a:gridCol w="2244090"/>
                <a:gridCol w="2481580"/>
                <a:gridCol w="6986270"/>
              </a:tblGrid>
              <a:tr h="2159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步骤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目的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具体表达内容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4008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表示荣幸和开心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认可团队成员，建立基础信任感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各位伙伴早上好！我是</a:t>
                      </a:r>
                      <a:r>
                        <a:rPr lang="en-US" altLang="zh-CN" sz="1200"/>
                        <a:t>XX</a:t>
                      </a:r>
                      <a:r>
                        <a:rPr lang="zh-CN" altLang="en-US" sz="1200"/>
                        <a:t>，非常荣幸能加入这个优秀的团队。这两天看到小王服务顾客耐心又体贴，小李整理的堆头陈列超漂亮，这些细节都让我对咱们团队充满信心！</a:t>
                      </a:r>
                      <a:r>
                        <a:rPr lang="en-US" altLang="zh-CN" sz="1200"/>
                        <a:t>"</a:t>
                      </a:r>
                      <a:endParaRPr lang="en-US" altLang="zh-CN" sz="1200"/>
                    </a:p>
                  </a:txBody>
                  <a:tcPr anchor="ctr" anchorCtr="0"/>
                </a:tc>
              </a:tr>
              <a:tr h="9144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说明会议目的和内容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明确议程，降低戒备心理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我们这个团队也是刚建立，为了接下来我们能一起把工作做好，更重要是能工作的开心。所以特意安排这个交流会，我们主要聊三个内容：</a:t>
                      </a:r>
                      <a:r>
                        <a:rPr lang="en-US" altLang="zh-CN" sz="1200"/>
                        <a:t>1</a:t>
                      </a:r>
                      <a:r>
                        <a:rPr lang="zh-CN" altLang="en-US" sz="1200"/>
                        <a:t>、互相认识。</a:t>
                      </a:r>
                      <a:r>
                        <a:rPr lang="en-US" altLang="zh-CN" sz="1200"/>
                        <a:t>2</a:t>
                      </a:r>
                      <a:r>
                        <a:rPr lang="zh-CN" altLang="en-US" sz="1200"/>
                        <a:t>、了解大家的需求建议。</a:t>
                      </a:r>
                      <a:r>
                        <a:rPr lang="en-US" altLang="zh-CN" sz="1200"/>
                        <a:t>3</a:t>
                      </a:r>
                      <a:r>
                        <a:rPr lang="zh-CN" altLang="en-US" sz="1200"/>
                        <a:t>、对我们接下来如何配合工作达成一些共识。大家放松交流就好</a:t>
                      </a:r>
                      <a:r>
                        <a:rPr lang="en-US" altLang="zh-CN" sz="1200"/>
                        <a:t>"</a:t>
                      </a:r>
                      <a:endParaRPr lang="en-US" altLang="zh-CN" sz="1200"/>
                    </a:p>
                  </a:txBody>
                  <a:tcPr anchor="ctr" anchorCtr="0"/>
                </a:tc>
              </a:tr>
              <a:tr h="64008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自我介绍及自己的工作方式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先打开自己，员工才更愿意向你打开心扉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我先做个自我介绍。（我叫什么名字，来自哪里，我的兴趣爱好是什么，我是怎样和伙伴合作的，我希望别人怎样对待我。</a:t>
                      </a:r>
                      <a:r>
                        <a:rPr lang="en-US" altLang="zh-CN" sz="1200"/>
                        <a:t>)</a:t>
                      </a:r>
                      <a:endParaRPr lang="en-US" altLang="zh-CN" sz="1200"/>
                    </a:p>
                  </a:txBody>
                  <a:tcPr anchor="ctr" anchorCtr="0"/>
                </a:tc>
              </a:tr>
              <a:tr h="64008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其他伙伴介绍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深度破冰，发现团队优势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接下来大家也互相介绍下，也按：我叫什么名字，来自哪里，我的兴趣爱好是什么，我是怎样和伙伴合作的，我希望别人怎样对待我的方式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了解大家的需求和困难并记录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让员工知道你是关注他们需求的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大家可以最近工作有什么困难，有什么问题，也都可以一起交流下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94615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对团队合作的期望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让员工知道这个团队怎样合作是最好的，最开心的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/>
                        <a:t>1</a:t>
                      </a:r>
                      <a:r>
                        <a:rPr lang="zh-CN" altLang="en-US" sz="1200"/>
                        <a:t>、想要开心的前提是，用心把工作做好</a:t>
                      </a:r>
                      <a:endParaRPr lang="zh-CN" altLang="en-US" sz="1200"/>
                    </a:p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/>
                        <a:t>2</a:t>
                      </a:r>
                      <a:r>
                        <a:rPr lang="zh-CN" altLang="en-US" sz="1200"/>
                        <a:t>、能对目标达成共识，我们一切围绕目标工作</a:t>
                      </a:r>
                      <a:endParaRPr lang="zh-CN" altLang="en-US" sz="1200"/>
                    </a:p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/>
                        <a:t>3</a:t>
                      </a:r>
                      <a:r>
                        <a:rPr lang="zh-CN" altLang="en-US" sz="1200"/>
                        <a:t>、有任何问题，困难及时和我沟通反馈</a:t>
                      </a:r>
                      <a:endParaRPr lang="zh-CN" altLang="en-US" sz="1200"/>
                    </a:p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/>
                        <a:t>4</a:t>
                      </a:r>
                      <a:r>
                        <a:rPr lang="zh-CN" altLang="en-US" sz="1200"/>
                        <a:t>、没有谁高谁低，事情怎样做好，就应该怎么做。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结束语，加油鼓起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鼓舞士气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/>
                        <a:t>希望</a:t>
                      </a:r>
                      <a:r>
                        <a:rPr lang="en-US" altLang="zh-CN" sz="1200"/>
                        <a:t>...........</a:t>
                      </a:r>
                      <a:endParaRPr lang="en-US" altLang="zh-CN" sz="12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148205" y="1080135"/>
            <a:ext cx="7220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保持轻松，愉悦的聊天分享氛围，但务必围绕</a:t>
            </a:r>
            <a:r>
              <a:rPr lang="en-US" altLang="zh-CN" b="1"/>
              <a:t>3</a:t>
            </a:r>
            <a:r>
              <a:rPr lang="zh-CN" altLang="en-US" b="1"/>
              <a:t>个任务开展，确保完成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sz="2800" b="1">
                <a:latin typeface="微软雅黑" panose="020B0503020204020204" pitchFamily="34" charset="-122"/>
              </a:rPr>
              <a:t>开一场成功的见面会</a:t>
            </a:r>
            <a:endParaRPr lang="zh-CN" sz="2800" b="1">
              <a:latin typeface="微软雅黑" panose="020B0503020204020204" pitchFamily="34" charset="-122"/>
            </a:endParaRPr>
          </a:p>
        </p:txBody>
      </p:sp>
      <p:pic>
        <p:nvPicPr>
          <p:cNvPr id="27" name="图片 26" descr="C:\Users\admin\Desktop\领导力培训 -ppt -5\51miz-E802074-9E4EA556.png51miz-E802074-9E4EA556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439545" y="2261235"/>
            <a:ext cx="4128135" cy="347916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6251575" y="3522980"/>
            <a:ext cx="46647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200000"/>
              </a:lnSpc>
            </a:pPr>
            <a:r>
              <a:rPr lang="zh-CN" altLang="en-US" sz="2000" b="1">
                <a:solidFill>
                  <a:srgbClr val="154A9C"/>
                </a:solidFill>
              </a:rPr>
              <a:t>请一组伙伴上台，组织一场见面会</a:t>
            </a:r>
            <a:endParaRPr lang="zh-CN" altLang="en-US" sz="2000" b="1">
              <a:solidFill>
                <a:srgbClr val="154A9C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zh-CN" altLang="en-US" sz="2000" b="1">
                <a:solidFill>
                  <a:srgbClr val="154A9C"/>
                </a:solidFill>
              </a:rPr>
              <a:t>准备：</a:t>
            </a:r>
            <a:r>
              <a:rPr lang="en-US" altLang="zh-CN" sz="2000" b="1">
                <a:solidFill>
                  <a:srgbClr val="154A9C"/>
                </a:solidFill>
              </a:rPr>
              <a:t>5</a:t>
            </a:r>
            <a:r>
              <a:rPr lang="zh-CN" altLang="en-US" sz="2000" b="1">
                <a:solidFill>
                  <a:srgbClr val="154A9C"/>
                </a:solidFill>
              </a:rPr>
              <a:t>分钟、会议</a:t>
            </a:r>
            <a:r>
              <a:rPr lang="en-US" altLang="zh-CN" sz="2000" b="1">
                <a:solidFill>
                  <a:srgbClr val="154A9C"/>
                </a:solidFill>
              </a:rPr>
              <a:t>10</a:t>
            </a:r>
            <a:r>
              <a:rPr lang="zh-CN" altLang="en-US" sz="2000" b="1">
                <a:solidFill>
                  <a:srgbClr val="154A9C"/>
                </a:solidFill>
              </a:rPr>
              <a:t>分钟、点评</a:t>
            </a:r>
            <a:r>
              <a:rPr lang="en-US" altLang="zh-CN" sz="2000" b="1">
                <a:solidFill>
                  <a:srgbClr val="154A9C"/>
                </a:solidFill>
              </a:rPr>
              <a:t>4</a:t>
            </a:r>
            <a:r>
              <a:rPr lang="zh-CN" altLang="en-US" sz="2000" b="1">
                <a:solidFill>
                  <a:srgbClr val="154A9C"/>
                </a:solidFill>
              </a:rPr>
              <a:t>分钟</a:t>
            </a:r>
            <a:endParaRPr lang="zh-CN" altLang="en-US" sz="2000" b="1">
              <a:solidFill>
                <a:srgbClr val="154A9C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38265" y="2447290"/>
            <a:ext cx="3957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ctr">
              <a:buFont typeface="Wingdings" panose="05000000000000000000" charset="0"/>
              <a:buChar char="u"/>
            </a:pPr>
            <a:r>
              <a:rPr lang="zh-CN" altLang="en-US" sz="2800" b="1">
                <a:solidFill>
                  <a:srgbClr val="154A9C"/>
                </a:solidFill>
                <a:sym typeface="+mn-ea"/>
              </a:rPr>
              <a:t>角色扮演练一练</a:t>
            </a:r>
            <a:endParaRPr lang="zh-CN" altLang="en-US" sz="2800" b="1">
              <a:solidFill>
                <a:srgbClr val="154A9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01625" y="2486611"/>
            <a:ext cx="101917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 b="1" dirty="0">
                <a:ln w="0"/>
                <a:solidFill>
                  <a:srgbClr val="F385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一对一深度沟通</a:t>
            </a:r>
            <a:endParaRPr lang="zh-CN" altLang="en-US" sz="6600" b="1" dirty="0">
              <a:ln w="0"/>
              <a:solidFill>
                <a:srgbClr val="F3851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179070" y="6009005"/>
            <a:ext cx="4234815" cy="558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2025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zh-CN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陈晓腾</a:t>
            </a:r>
            <a:endParaRPr lang="zh-CN" altLang="en-US" sz="2000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9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999990" y="2830195"/>
            <a:ext cx="2191385" cy="1045210"/>
          </a:xfrm>
          <a:prstGeom prst="rect">
            <a:avLst/>
          </a:prstGeom>
          <a:noFill/>
        </p:spPr>
        <p:txBody>
          <a:bodyPr wrap="square" lIns="121920" tIns="60960" rIns="121920" bIns="60960" anchor="ctr">
            <a:spAutoFit/>
          </a:bodyPr>
          <a:lstStyle/>
          <a:p>
            <a:r>
              <a:rPr lang="zh-CN" altLang="en-US" sz="6000" b="1" dirty="0">
                <a:ln w="0"/>
                <a:solidFill>
                  <a:srgbClr val="F385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   </a:t>
            </a:r>
            <a:endParaRPr lang="en-US" altLang="zh-CN" sz="2000" b="1" dirty="0">
              <a:ln w="0"/>
              <a:solidFill>
                <a:srgbClr val="F3851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010775" y="6075045"/>
            <a:ext cx="17767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陈晓腾</a:t>
            </a:r>
            <a:endParaRPr lang="zh-CN" alt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>
                <a:solidFill>
                  <a:schemeClr val="bg1"/>
                </a:solidFill>
                <a:latin typeface="Agency FB" panose="020B0503020202020204" pitchFamily="34" charset="0"/>
                <a:ea typeface="微软雅黑" panose="020B0503020204020204" pitchFamily="34" charset="-122"/>
              </a:rPr>
              <a:t>2024.05.23</a:t>
            </a:r>
            <a:endParaRPr lang="zh-CN" altLang="en-US" sz="2000" dirty="0">
              <a:solidFill>
                <a:schemeClr val="bg1"/>
              </a:solidFill>
              <a:latin typeface="Agency FB" panose="020B0503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755" y="257175"/>
            <a:ext cx="1506220" cy="118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33_3*o_i*1_1"/>
  <p:tag name="KSO_WM_TEMPLATE_CATEGORY" val="diagram"/>
  <p:tag name="KSO_WM_TEMPLATE_INDEX" val="20230933"/>
  <p:tag name="KSO_WM_UNIT_LAYERLEVEL" val="1_1"/>
  <p:tag name="KSO_WM_TAG_VERSION" val="3.0"/>
  <p:tag name="KSO_WM_DIAGRAM_GROUP_CODE" val="o1-1"/>
  <p:tag name="KSO_WM_UNIT_TYPE" val="o_i"/>
  <p:tag name="KSO_WM_UNIT_INDEX" val="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solid&quot;:{&quot;brightness&quot;:0,&quot;colorType&quot;:2,&quot;rgb&quot;:&quot;#d9d9d9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]}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o_h_a"/>
  <p:tag name="KSO_WM_UNIT_INDEX" val="1_1_1"/>
  <p:tag name="KSO_WM_UNIT_ID" val="diagram20230933_3*o_h_a*1_1_1"/>
  <p:tag name="KSO_WM_TEMPLATE_CATEGORY" val="diagram"/>
  <p:tag name="KSO_WM_TEMPLATE_INDEX" val="2023093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o_h_a"/>
  <p:tag name="KSO_WM_UNIT_INDEX" val="1_3_1"/>
  <p:tag name="KSO_WM_UNIT_ID" val="diagram20230933_3*o_h_a*1_3_1"/>
  <p:tag name="KSO_WM_TEMPLATE_CATEGORY" val="diagram"/>
  <p:tag name="KSO_WM_TEMPLATE_INDEX" val="2023093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o1-1"/>
  <p:tag name="KSO_WM_UNIT_VALUE" val="22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o_h_a"/>
  <p:tag name="KSO_WM_UNIT_INDEX" val="1_2_1"/>
  <p:tag name="KSO_WM_UNIT_ID" val="diagram20230933_3*o_h_a*1_2_1"/>
  <p:tag name="KSO_WM_TEMPLATE_CATEGORY" val="diagram"/>
  <p:tag name="KSO_WM_TEMPLATE_INDEX" val="2023093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33_3*o_h_i*1_2_3"/>
  <p:tag name="KSO_WM_TEMPLATE_CATEGORY" val="diagram"/>
  <p:tag name="KSO_WM_TEMPLATE_INDEX" val="2023093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o1-1"/>
  <p:tag name="KSO_WM_UNIT_TYPE" val="o_h_i"/>
  <p:tag name="KSO_WM_UNIT_INDEX" val="1_2_3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33_3*o_h_i*1_2_4"/>
  <p:tag name="KSO_WM_TEMPLATE_CATEGORY" val="diagram"/>
  <p:tag name="KSO_WM_TEMPLATE_INDEX" val="2023093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o1-1"/>
  <p:tag name="KSO_WM_UNIT_TYPE" val="o_h_i"/>
  <p:tag name="KSO_WM_UNIT_INDEX" val="1_2_4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33_3*o_h_i*1_2_1"/>
  <p:tag name="KSO_WM_TEMPLATE_CATEGORY" val="diagram"/>
  <p:tag name="KSO_WM_TEMPLATE_INDEX" val="2023093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o1-1"/>
  <p:tag name="KSO_WM_UNIT_SUBTYPE" val="d"/>
  <p:tag name="KSO_WM_UNIT_TYPE" val="o_h_i"/>
  <p:tag name="KSO_WM_UNIT_INDEX" val="1_2_1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gradient&quot;:[{&quot;brightness&quot;:0.800000011920929,&quot;colorType&quot;:1,&quot;foreColorIndex&quot;:6,&quot;pos&quot;:0,&quot;transparency&quot;:0},{&quot;brightness&quot;:0,&quot;colorType&quot;:1,&quot;foreColorIndex&quot;:6,&quot;pos&quot;:1,&quot;transparency&quot;:0},{&quot;brightness&quot;:0.4000000059604645,&quot;colorType&quot;:1,&quot;foreColorIndex&quot;:6,&quot;pos&quot;:0.30000001192092896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33_3*o_h_i*1_3_4"/>
  <p:tag name="KSO_WM_TEMPLATE_CATEGORY" val="diagram"/>
  <p:tag name="KSO_WM_TEMPLATE_INDEX" val="2023093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o1-1"/>
  <p:tag name="KSO_WM_UNIT_TYPE" val="o_h_i"/>
  <p:tag name="KSO_WM_UNIT_INDEX" val="1_3_4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33_3*o_h_i*1_3_3"/>
  <p:tag name="KSO_WM_TEMPLATE_CATEGORY" val="diagram"/>
  <p:tag name="KSO_WM_TEMPLATE_INDEX" val="2023093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o1-1"/>
  <p:tag name="KSO_WM_UNIT_TYPE" val="o_h_i"/>
  <p:tag name="KSO_WM_UNIT_INDEX" val="1_3_3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33_3*o_h_i*1_3_1"/>
  <p:tag name="KSO_WM_TEMPLATE_CATEGORY" val="diagram"/>
  <p:tag name="KSO_WM_TEMPLATE_INDEX" val="2023093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o1-1"/>
  <p:tag name="KSO_WM_UNIT_TYPE" val="o_h_i"/>
  <p:tag name="KSO_WM_UNIT_INDEX" val="1_3_1"/>
  <p:tag name="KSO_WM_UNIT_SUBTYPE" val="d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1,&quot;transparency&quot;:0},{&quot;brightness&quot;:0.4000000059604645,&quot;colorType&quot;:1,&quot;foreColorIndex&quot;:5,&quot;pos&quot;:0.30000001192092896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33_3*o_h_i*1_1_4"/>
  <p:tag name="KSO_WM_TEMPLATE_CATEGORY" val="diagram"/>
  <p:tag name="KSO_WM_TEMPLATE_INDEX" val="2023093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o1-1"/>
  <p:tag name="KSO_WM_UNIT_TYPE" val="o_h_i"/>
  <p:tag name="KSO_WM_UNIT_INDEX" val="1_1_4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33_3*o_h_i*1_1_3"/>
  <p:tag name="KSO_WM_TEMPLATE_CATEGORY" val="diagram"/>
  <p:tag name="KSO_WM_TEMPLATE_INDEX" val="2023093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o1-1"/>
  <p:tag name="KSO_WM_UNIT_TYPE" val="o_h_i"/>
  <p:tag name="KSO_WM_UNIT_INDEX" val="1_1_3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33_3*o_h_i*1_1_1"/>
  <p:tag name="KSO_WM_TEMPLATE_CATEGORY" val="diagram"/>
  <p:tag name="KSO_WM_TEMPLATE_INDEX" val="2023093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o1-1"/>
  <p:tag name="KSO_WM_UNIT_SUBTYPE" val="d"/>
  <p:tag name="KSO_WM_UNIT_TYPE" val="o_h_i"/>
  <p:tag name="KSO_WM_UNIT_INDEX" val="1_1_1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1,&quot;transparency&quot;:0},{&quot;brightness&quot;:0.4000000059604645,&quot;colorType&quot;:1,&quot;foreColorIndex&quot;:5,&quot;pos&quot;:0.30000001192092896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33_3*o_h_i*1_1_2"/>
  <p:tag name="KSO_WM_TEMPLATE_CATEGORY" val="diagram"/>
  <p:tag name="KSO_WM_TEMPLATE_INDEX" val="2023093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o1-1"/>
  <p:tag name="KSO_WM_UNIT_TYPE" val="o_h_i"/>
  <p:tag name="KSO_WM_UNIT_INDEX" val="1_1_2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33_3*o_h_i*1_2_2"/>
  <p:tag name="KSO_WM_TEMPLATE_CATEGORY" val="diagram"/>
  <p:tag name="KSO_WM_TEMPLATE_INDEX" val="2023093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o1-1"/>
  <p:tag name="KSO_WM_UNIT_TYPE" val="o_h_i"/>
  <p:tag name="KSO_WM_UNIT_INDEX" val="1_2_2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33_3*o_h_i*1_3_2"/>
  <p:tag name="KSO_WM_TEMPLATE_CATEGORY" val="diagram"/>
  <p:tag name="KSO_WM_TEMPLATE_INDEX" val="2023093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o1-1"/>
  <p:tag name="KSO_WM_UNIT_TYPE" val="o_h_i"/>
  <p:tag name="KSO_WM_UNIT_INDEX" val="1_3_2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o_h_f"/>
  <p:tag name="KSO_WM_UNIT_INDEX" val="1_2_1"/>
  <p:tag name="KSO_WM_UNIT_ID" val="diagram20230933_3*o_h_f*1_2_1"/>
  <p:tag name="KSO_WM_TEMPLATE_CATEGORY" val="diagram"/>
  <p:tag name="KSO_WM_TEMPLATE_INDEX" val="20230933"/>
  <p:tag name="KSO_WM_UNIT_LAYERLEVEL" val="1_1_1"/>
  <p:tag name="KSO_WM_TAG_VERSION" val="3.0"/>
  <p:tag name="KSO_WM_UNIT_TEXT_FILL_FORE_SCHEMECOLOR_INDEX_BRIGHTNESS" val="0.15"/>
  <p:tag name="KSO_WM_DIAGRAM_GROUP_CODE" val="o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TEXT_LAYER_COUNT" val="1"/>
  <p:tag name="KSO_WM_UNIT_PRESET_TEXT" val="单击此处添加文本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o_h_f"/>
  <p:tag name="KSO_WM_UNIT_INDEX" val="1_3_1"/>
  <p:tag name="KSO_WM_UNIT_ID" val="diagram20230933_3*o_h_f*1_3_1"/>
  <p:tag name="KSO_WM_TEMPLATE_CATEGORY" val="diagram"/>
  <p:tag name="KSO_WM_TEMPLATE_INDEX" val="20230933"/>
  <p:tag name="KSO_WM_UNIT_LAYERLEVEL" val="1_1_1"/>
  <p:tag name="KSO_WM_TAG_VERSION" val="3.0"/>
  <p:tag name="KSO_WM_UNIT_TEXT_FILL_FORE_SCHEMECOLOR_INDEX_BRIGHTNESS" val="0.15"/>
  <p:tag name="KSO_WM_DIAGRAM_GROUP_CODE" val="o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TEXT_LAYER_COUNT" val="1"/>
  <p:tag name="KSO_WM_UNIT_PRESET_TEXT" val="根据需要可酌情增减文字，以便观者理解您传达的思想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o_h_f"/>
  <p:tag name="KSO_WM_UNIT_INDEX" val="1_1_1"/>
  <p:tag name="KSO_WM_UNIT_ID" val="diagram20230933_3*o_h_f*1_1_1"/>
  <p:tag name="KSO_WM_TEMPLATE_CATEGORY" val="diagram"/>
  <p:tag name="KSO_WM_TEMPLATE_INDEX" val="20230933"/>
  <p:tag name="KSO_WM_UNIT_LAYERLEVEL" val="1_1_1"/>
  <p:tag name="KSO_WM_TAG_VERSION" val="3.0"/>
  <p:tag name="KSO_WM_UNIT_TEXT_FILL_FORE_SCHEMECOLOR_INDEX_BRIGHTNESS" val="0.15"/>
  <p:tag name="KSO_WM_DIAGRAM_GROUP_CODE" val="o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80.0082702636719,&quot;left&quot;:51.350006103515625,&quot;top&quot;:112.54586486816406,&quot;width&quot;:851.32503326656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TEXT_LAYER_COUNT" val="1"/>
  <p:tag name="KSO_WM_UNIT_PRESET_TEXT" val="单击此处添加文本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249_1*l_h_i*1_1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88.55952146515136,&quot;left&quot;:46.72503937007874,&quot;top&quot;:105.28016357421875,&quot;width&quot;:844.45212598425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2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249_1*l_h_i*1_2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88.55952146515136,&quot;left&quot;:46.72503937007874,&quot;top&quot;:105.28016357421875,&quot;width&quot;:844.45212598425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05000000074505806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]}"/>
</p:tagLst>
</file>

<file path=ppt/tags/tag2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249_1*l_h_f*1_1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88.55952146515136,&quot;left&quot;:46.72503937007874,&quot;top&quot;:105.28016357421875,&quot;width&quot;:844.45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7"/>
  <p:tag name="KSO_WM_UNIT_TEXT_FILL_TYPE" val="1"/>
  <p:tag name="KSO_WM_UNIT_TEXT_TYPE" val="1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根据需要可酌情增减文字，以便观者准确地理解您传达的思想。"/>
  <p:tag name="KSO_WM_DIAGRAM_USE_COLOR_VALUE" val="{&quot;color_scheme&quot;:1,&quot;color_type&quot;:1,&quot;theme_color_indexes&quot;:[]}"/>
</p:tagLst>
</file>

<file path=ppt/tags/tag2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249_1*l_h_f*1_2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88.55952146515136,&quot;left&quot;:46.72503937007874,&quot;top&quot;:105.28016357421875,&quot;width&quot;:844.45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7"/>
  <p:tag name="KSO_WM_UNIT_TEXT_TYPE" val="1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根据需要可酌情增减文字，以便观者准确地理解您传达的思想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201*1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3249_1*l_h_x*1_1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88.55952146515136,&quot;left&quot;:46.72503937007874,&quot;top&quot;:105.28016357421875,&quot;width&quot;:844.45212598425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]}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249_1*l_h_a*1_1_1"/>
  <p:tag name="KSO_WM_TEMPLATE_CATEGORY" val="diagram"/>
  <p:tag name="KSO_WM_TEMPLATE_INDEX" val="2023324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EXT_FILL_TYPE" val="1"/>
  <p:tag name="KSO_WM_DIAGRAM_MAX_ITEMCNT" val="2"/>
  <p:tag name="KSO_WM_DIAGRAM_MIN_ITEMCNT" val="2"/>
  <p:tag name="KSO_WM_DIAGRAM_VIRTUALLY_FRAME" val="{&quot;height&quot;:388.55952146515136,&quot;left&quot;:46.72503937007874,&quot;top&quot;:105.28016357421875,&quot;width&quot;:844.45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添加标题"/>
  <p:tag name="KSO_WM_UNIT_TEXT_TYPE" val="1"/>
  <p:tag name="KSO_WM_DIAGRAM_USE_COLOR_VALUE" val="{&quot;color_scheme&quot;:1,&quot;color_type&quot;:1,&quot;theme_color_indexes&quot;:[]}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249_1*l_h_a*1_2_1"/>
  <p:tag name="KSO_WM_TEMPLATE_CATEGORY" val="diagram"/>
  <p:tag name="KSO_WM_TEMPLATE_INDEX" val="2023324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388.55952146515136,&quot;left&quot;:46.72503937007874,&quot;top&quot;:105.28016357421875,&quot;width&quot;:844.45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2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88*18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3249_1*l_h_x*1_2_1"/>
  <p:tag name="KSO_WM_TEMPLATE_CATEGORY" val="diagram"/>
  <p:tag name="KSO_WM_TEMPLATE_INDEX" val="20233249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88.55952146515136,&quot;left&quot;:46.72503937007874,&quot;top&quot;:105.28016357421875,&quot;width&quot;:844.45212598425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2*l_i*1_2"/>
  <p:tag name="KSO_WM_TEMPLATE_CATEGORY" val="diagram"/>
  <p:tag name="KSO_WM_TEMPLATE_INDEX" val="20235178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8.3500061035156,&quot;left&quot;:54.79998779296875,&quot;top&quot;:134.4749969482422,&quot;width&quot;:850.4000244140625}"/>
  <p:tag name="KSO_WM_DIAGRAM_COLOR_MATCH_VALUE" val="{&quot;shape&quot;:{&quot;fill&quot;:{&quot;solid&quot;:{&quot;brightness&quot;:0,&quot;colorType&quot;:1,&quot;foreColorIndex&quot;:5,&quot;transparency&quot;:0.920000016689300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2*l_i*1_5"/>
  <p:tag name="KSO_WM_TEMPLATE_CATEGORY" val="diagram"/>
  <p:tag name="KSO_WM_TEMPLATE_INDEX" val="20235178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8.3500061035156,&quot;left&quot;:54.79998779296875,&quot;top&quot;:134.4749969482422,&quot;width&quot;:850.4000244140625}"/>
  <p:tag name="KSO_WM_DIAGRAM_COLOR_MATCH_VALUE" val="{&quot;shape&quot;:{&quot;fill&quot;:{&quot;solid&quot;:{&quot;brightness&quot;:0,&quot;colorType&quot;:1,&quot;foreColorIndex&quot;:5,&quot;transparency&quot;:0.920000016689300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2*l_i*1_3"/>
  <p:tag name="KSO_WM_TEMPLATE_CATEGORY" val="diagram"/>
  <p:tag name="KSO_WM_TEMPLATE_INDEX" val="20235178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8.3500061035156,&quot;left&quot;:54.79998779296875,&quot;top&quot;:134.4749969482422,&quot;width&quot;:850.4000244140625}"/>
  <p:tag name="KSO_WM_DIAGRAM_COLOR_MATCH_VALUE" val="{&quot;shape&quot;:{&quot;fill&quot;:{&quot;solid&quot;:{&quot;brightness&quot;:0,&quot;colorType&quot;:1,&quot;foreColorIndex&quot;:5,&quot;transparency&quot;:0.860000014305114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2*l_h_i*1_3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8.3500061035156,&quot;left&quot;:54.79998779296875,&quot;top&quot;:134.4749969482422,&quot;width&quot;:850.4000244140625}"/>
  <p:tag name="KSO_WM_DIAGRAM_COLOR_MATCH_VALUE" val="{&quot;shape&quot;:{&quot;fill&quot;:{&quot;gradient&quot;:[{&quot;brightness&quot;:0.8999999761581421,&quot;colorType&quot;:1,&quot;foreColorIndex&quot;:5,&quot;pos&quot;:0,&quot;transparency&quot;:0},{&quot;brightness&quot;:0.3499999940395355,&quot;colorType&quot;:1,&quot;foreColorIndex&quot;:5,&quot;pos&quot;:0.7400000095367432,&quot;transparency&quot;:0},{&quot;brightness&quot;:0.20000000298023224,&quot;colorType&quot;:1,&quot;foreColorIndex&quot;:5,&quot;pos&quot;:0.8299999833106995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2*l_h_i*1_1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8.3500061035156,&quot;left&quot;:54.79998779296875,&quot;top&quot;:134.4749969482422,&quot;width&quot;:850.4000244140625}"/>
  <p:tag name="KSO_WM_DIAGRAM_COLOR_MATCH_VALUE" val="{&quot;shape&quot;:{&quot;fill&quot;:{&quot;gradient&quot;:[{&quot;brightness&quot;:0.8999999761581421,&quot;colorType&quot;:1,&quot;foreColorIndex&quot;:5,&quot;pos&quot;:0,&quot;transparency&quot;:0},{&quot;brightness&quot;:0,&quot;colorType&quot;:1,&quot;foreColorIndex&quot;:5,&quot;pos&quot;:0.7400000095367432,&quot;transparency&quot;:0},{&quot;brightness&quot;:-0.10000000149011612,&quot;colorType&quot;:1,&quot;foreColorIndex&quot;:5,&quot;pos&quot;:0.8299999833106995,&quot;transparency&quot;:0},{&quot;brightness&quot;:-0.1000000014901161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178_2*l_h_f*1_1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388.3500061035156,&quot;left&quot;:54.79998779296875,&quot;top&quot;:134.4749969482422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正文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5178_2*l_h_a*1_1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388.3500061035156,&quot;left&quot;:54.79998779296875,&quot;top&quot;:134.4749969482422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一亿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178_2*l_h_f*1_3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388.3500061035156,&quot;left&quot;:54.79998779296875,&quot;top&quot;:134.4749969482422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正文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5178_2*l_h_a*1_3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l1-1"/>
  <p:tag name="KSO_WM_UNIT_VALUE" val="5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388.3500061035156,&quot;left&quot;:54.79998779296875,&quot;top&quot;:134.4749969482422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30+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2*l_h_i*1_2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8.3500061035156,&quot;left&quot;:54.79998779296875,&quot;top&quot;:134.4749969482422,&quot;width&quot;:850.4000244140625}"/>
  <p:tag name="KSO_WM_DIAGRAM_COLOR_MATCH_VALUE" val="{&quot;shape&quot;:{&quot;fill&quot;:{&quot;gradient&quot;:[{&quot;brightness&quot;:0.8999999761581421,&quot;colorType&quot;:1,&quot;foreColorIndex&quot;:5,&quot;pos&quot;:0,&quot;transparency&quot;:0},{&quot;brightness&quot;:0.44999998807907104,&quot;colorType&quot;:1,&quot;foreColorIndex&quot;:5,&quot;pos&quot;:0.7400000095367432,&quot;transparency&quot;:0},{&quot;brightness&quot;:0.30000001192092896,&quot;colorType&quot;:1,&quot;foreColorIndex&quot;:5,&quot;pos&quot;:0.8299999833106995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178_2*l_h_f*1_2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EXT_FILL_FORE_SCHEMECOLOR_INDEX_BRIGHTNESS" val="0.15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388.3500061035156,&quot;left&quot;:54.79998779296875,&quot;top&quot;:134.4749969482422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正文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2*l_i*1_1"/>
  <p:tag name="KSO_WM_TEMPLATE_CATEGORY" val="diagram"/>
  <p:tag name="KSO_WM_TEMPLATE_INDEX" val="20235178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8.3500061035156,&quot;left&quot;:54.79998779296875,&quot;top&quot;:134.4749969482422,&quot;width&quot;:850.4000244140625}"/>
  <p:tag name="KSO_WM_DIAGRAM_COLOR_MATCH_VALUE" val="{&quot;shape&quot;:{&quot;fill&quot;:{&quot;solid&quot;:{&quot;brightness&quot;:0,&quot;colorType&quot;:1,&quot;foreColorIndex&quot;:5,&quot;transparency&quot;:0.920000016689300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2*l_i*1_4"/>
  <p:tag name="KSO_WM_TEMPLATE_CATEGORY" val="diagram"/>
  <p:tag name="KSO_WM_TEMPLATE_INDEX" val="20235178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8.3500061035156,&quot;left&quot;:54.79998779296875,&quot;top&quot;:134.4749969482422,&quot;width&quot;:850.4000244140625}"/>
  <p:tag name="KSO_WM_DIAGRAM_COLOR_MATCH_VALUE" val="{&quot;shape&quot;:{&quot;fill&quot;:{&quot;solid&quot;:{&quot;brightness&quot;:0,&quot;colorType&quot;:1,&quot;foreColorIndex&quot;:5,&quot;transparency&quot;:0.920000016689300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2*l_h_a*1_2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UNIT_VALUE" val="4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388.3500061035156,&quot;left&quot;:54.79998779296875,&quot;top&quot;:134.4749969482422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七千万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2.xml><?xml version="1.0" encoding="utf-8"?>
<p:tagLst xmlns:p="http://schemas.openxmlformats.org/presentationml/2006/main">
  <p:tag name="TABLE_ENDDRAG_ORIGIN_RECT" val="922*432"/>
  <p:tag name="TABLE_ENDDRAG_RECT" val="28*104*922*432"/>
</p:tagLst>
</file>

<file path=ppt/tags/tag43.xml><?xml version="1.0" encoding="utf-8"?>
<p:tagLst xmlns:p="http://schemas.openxmlformats.org/presentationml/2006/main">
  <p:tag name="commondata" val="eyJoZGlkIjoiZjFmZWIzNDg2MmIzZjExOTIzMmViNTBmYTMwYTk0ZWYifQ=="/>
  <p:tag name="resource_record_key" val="{&quot;10&quot;:[21577555,21538598,21584409,21584402],&quot;70&quot;:[3332425,3321882,3319206,3314296,3314052,3313566,3322427,3333583]}"/>
</p:tagLst>
</file>

<file path=ppt/theme/theme1.xml><?xml version="1.0" encoding="utf-8"?>
<a:theme xmlns:a="http://schemas.openxmlformats.org/drawingml/2006/main" name="聚满分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奈雪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奈雪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聚满分</Template>
  <TotalTime>0</TotalTime>
  <Words>1402</Words>
  <Application>WPS 演示</Application>
  <PresentationFormat>宽屏</PresentationFormat>
  <Paragraphs>178</Paragraphs>
  <Slides>12</Slides>
  <Notes>13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黑体</vt:lpstr>
      <vt:lpstr>Arial</vt:lpstr>
      <vt:lpstr>Wingdings</vt:lpstr>
      <vt:lpstr>默认字体</vt:lpstr>
      <vt:lpstr>AMGDT</vt:lpstr>
      <vt:lpstr>Agency FB</vt:lpstr>
      <vt:lpstr>Trebuchet MS</vt:lpstr>
      <vt:lpstr>Arial Unicode MS</vt:lpstr>
      <vt:lpstr>Calibri</vt:lpstr>
      <vt:lpstr>聚满分</vt:lpstr>
      <vt:lpstr>腾讯文档 默认主题​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Nocompany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daisichao521@outlook.com</dc:creator>
  <cp:lastModifiedBy>晓腾</cp:lastModifiedBy>
  <cp:revision>2159</cp:revision>
  <dcterms:created xsi:type="dcterms:W3CDTF">2017-04-10T02:24:00Z</dcterms:created>
  <dcterms:modified xsi:type="dcterms:W3CDTF">2025-05-22T09:34:30Z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E0D06C9A65B442F8968B2A1FA85F462A_13</vt:lpwstr>
  </property>
  <property fmtid="{D5CDD505-2E9C-101B-9397-08002B2CF9AE}" pid="3" name="KSOProductBuildVer">
    <vt:lpwstr>2052-12.1.0.20784</vt:lpwstr>
  </property>
</Properties>
</file>